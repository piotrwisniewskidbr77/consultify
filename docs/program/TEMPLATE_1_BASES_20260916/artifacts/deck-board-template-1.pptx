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OEE — Line 3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563E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B2A4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7DA7F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563E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B2A41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7DA7FF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70.8</c:v>
                </c:pt>
                <c:pt idx="1">
                  <c:v>71.6</c:v>
                </c:pt>
                <c:pt idx="2">
                  <c:v>72.9</c:v>
                </c:pt>
                <c:pt idx="3">
                  <c:v>74.1</c:v>
                </c:pt>
                <c:pt idx="4">
                  <c:v>75.4</c:v>
                </c:pt>
                <c:pt idx="5">
                  <c:v>76.2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51560" y="1353312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80" kern="0" dirty="0">
                <a:solidFill>
                  <a:srgbClr val="7FA8F5"/>
                </a:solidFill>
              </a:rPr>
              <a:t>CLIENT FINAL REVIEW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051560" y="1783080"/>
            <a:ext cx="8961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</a:rPr>
              <a:t>Northwind 2027 — Operational Maturity Assessment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1051560" y="3054096"/>
            <a:ext cx="1645920" cy="0"/>
          </a:xfrm>
          <a:prstGeom prst="line">
            <a:avLst/>
          </a:prstGeom>
          <a:noFill/>
          <a:ln w="3175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333756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4E6"/>
                </a:solidFill>
              </a:rPr>
              <a:t>Northwind Manufacturing Ltd.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51560" y="3675888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A3C0"/>
                </a:solidFill>
              </a:rPr>
              <a:t>16 September 2026 · Prepared by Consultify · DBR77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9674352" y="658368"/>
            <a:ext cx="1463040" cy="384048"/>
          </a:xfrm>
          <a:prstGeom prst="rect">
            <a:avLst/>
          </a:prstGeom>
          <a:solidFill>
            <a:srgbClr val="2134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FA3C0"/>
                </a:solidFill>
              </a:rPr>
              <a:t>[CLIENT LOGO]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1051560" y="598932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spc="140" kern="0" dirty="0">
                <a:solidFill>
                  <a:srgbClr val="8FA3C0"/>
                </a:solidFill>
              </a:rPr>
              <a:t>CONFIDENTIAL</a:t>
            </a:r>
            <a:endParaRPr lang="en-US" sz="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808" y="329184"/>
            <a:ext cx="10607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2563EB"/>
                </a:solidFill>
              </a:rPr>
              <a:t>AGENDA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749808" y="5943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B2A41"/>
                </a:solidFill>
              </a:rPr>
              <a:t>What we will cover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749808" y="1124712"/>
            <a:ext cx="10744200" cy="0"/>
          </a:xfrm>
          <a:prstGeom prst="line">
            <a:avLst/>
          </a:prstGeom>
          <a:noFill/>
          <a:ln w="10160">
            <a:solidFill>
              <a:srgbClr val="D8DE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4173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01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481328" y="1417320"/>
            <a:ext cx="4572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1828"/>
                </a:solidFill>
              </a:rPr>
              <a:t>Where Northwind stands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583680" y="1417320"/>
            <a:ext cx="4114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Maturity result across seven axes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68680" y="1728216"/>
            <a:ext cx="10469880" cy="0"/>
          </a:xfrm>
          <a:prstGeom prst="line">
            <a:avLst/>
          </a:prstGeom>
          <a:noFill/>
          <a:ln w="6350">
            <a:solidFill>
              <a:srgbClr val="D8D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03911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02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481328" y="2039112"/>
            <a:ext cx="4572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1828"/>
                </a:solidFill>
              </a:rPr>
              <a:t>What the numbers say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583680" y="2039112"/>
            <a:ext cx="4114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Eight operational KPIs against target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868680" y="2350008"/>
            <a:ext cx="10469880" cy="0"/>
          </a:xfrm>
          <a:prstGeom prst="line">
            <a:avLst/>
          </a:prstGeom>
          <a:noFill/>
          <a:ln w="6350">
            <a:solidFill>
              <a:srgbClr val="D8DE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2660904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03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481328" y="2660904"/>
            <a:ext cx="4572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1828"/>
                </a:solidFill>
              </a:rPr>
              <a:t>Delivery capacity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583680" y="2660904"/>
            <a:ext cx="4114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Role load across the programme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868680" y="2971800"/>
            <a:ext cx="10469880" cy="0"/>
          </a:xfrm>
          <a:prstGeom prst="line">
            <a:avLst/>
          </a:prstGeom>
          <a:noFill/>
          <a:ln w="6350">
            <a:solidFill>
              <a:srgbClr val="D8DE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3282696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04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481328" y="3282696"/>
            <a:ext cx="4572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1828"/>
                </a:solidFill>
              </a:rPr>
              <a:t>Decision for the board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583680" y="3282696"/>
            <a:ext cx="4114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Investment sequencing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868680" y="3593592"/>
            <a:ext cx="10469880" cy="0"/>
          </a:xfrm>
          <a:prstGeom prst="line">
            <a:avLst/>
          </a:prstGeom>
          <a:noFill/>
          <a:ln w="6350">
            <a:solidFill>
              <a:srgbClr val="D8DE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49808" y="6400800"/>
            <a:ext cx="10744200" cy="0"/>
          </a:xfrm>
          <a:prstGeom prst="line">
            <a:avLst/>
          </a:prstGeom>
          <a:noFill/>
          <a:ln w="6350">
            <a:solidFill>
              <a:srgbClr val="D8DE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9808" y="6492240"/>
            <a:ext cx="8961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67085"/>
                </a:solidFill>
              </a:rPr>
              <a:t>Consultify · Northwind Manufacturing Ltd. · Confidential</a:t>
            </a:r>
            <a:endParaRPr lang="en-US" sz="650" dirty="0"/>
          </a:p>
        </p:txBody>
      </p:sp>
      <p:sp>
        <p:nvSpPr>
          <p:cNvPr id="23" name="Text 21"/>
          <p:cNvSpPr/>
          <p:nvPr/>
        </p:nvSpPr>
        <p:spPr>
          <a:xfrm>
            <a:off x="10698480" y="6492240"/>
            <a:ext cx="777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67085"/>
                </a:solidFill>
              </a:rPr>
              <a:t>slide 2</a:t>
            </a:r>
            <a:endParaRPr lang="en-US" sz="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51560" y="196596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80" kern="0" dirty="0">
                <a:solidFill>
                  <a:srgbClr val="7FA8F5"/>
                </a:solidFill>
              </a:rPr>
              <a:t>SECTION 01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051560" y="2359152"/>
            <a:ext cx="9692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Where Northwind stands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51560" y="3200400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4E6"/>
                </a:solidFill>
              </a:rPr>
              <a:t>Maturity result across seven axes · frozen DRD output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808" y="329184"/>
            <a:ext cx="10607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2563EB"/>
                </a:solidFill>
              </a:rPr>
              <a:t>MATURITY RESULT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749808" y="5943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B2A41"/>
                </a:solidFill>
              </a:rPr>
              <a:t>Level 3 on every axis — the gap is connection, not capability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749808" y="1124712"/>
            <a:ext cx="10744200" cy="0"/>
          </a:xfrm>
          <a:prstGeom prst="line">
            <a:avLst/>
          </a:prstGeom>
          <a:noFill/>
          <a:ln w="10160">
            <a:solidFill>
              <a:srgbClr val="D8DE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444752"/>
            <a:ext cx="1010412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01828"/>
                </a:solidFill>
              </a:rPr>
              <a:t>All seven axes sit at Level 3; practices exist and repeat inside teams.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01828"/>
                </a:solidFill>
              </a:rPr>
              <a:t>Data and Value Foundation shows the widest gap to target.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01828"/>
                </a:solidFill>
              </a:rPr>
              <a:t>Strong shopfloor engineering talent cannot compensate for disconnected systems.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68680" y="5349240"/>
            <a:ext cx="10378440" cy="658368"/>
          </a:xfrm>
          <a:prstGeom prst="rect">
            <a:avLst/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5349240"/>
            <a:ext cx="73152" cy="6583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5504688"/>
            <a:ext cx="9829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01828"/>
                </a:solidFill>
              </a:rPr>
              <a:t>Fix the data foundation before scaling automation or predictive maintenance spend.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49808" y="6400800"/>
            <a:ext cx="10744200" cy="0"/>
          </a:xfrm>
          <a:prstGeom prst="line">
            <a:avLst/>
          </a:prstGeom>
          <a:noFill/>
          <a:ln w="6350">
            <a:solidFill>
              <a:srgbClr val="D8DE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6492240"/>
            <a:ext cx="8961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67085"/>
                </a:solidFill>
              </a:rPr>
              <a:t>Consultify · Northwind Manufacturing Ltd. · Confidential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0698480" y="6492240"/>
            <a:ext cx="777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67085"/>
                </a:solidFill>
              </a:rPr>
              <a:t>slide 4</a:t>
            </a:r>
            <a:endParaRPr lang="en-US" sz="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808" y="329184"/>
            <a:ext cx="10607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2563EB"/>
                </a:solidFill>
              </a:rPr>
              <a:t>FINDINGS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749808" y="5943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B2A41"/>
                </a:solidFill>
              </a:rPr>
              <a:t>What holds performance back — and what already works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749808" y="1124712"/>
            <a:ext cx="10744200" cy="0"/>
          </a:xfrm>
          <a:prstGeom prst="line">
            <a:avLst/>
          </a:prstGeom>
          <a:noFill/>
          <a:ln w="10160">
            <a:solidFill>
              <a:srgbClr val="D8DE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417320"/>
            <a:ext cx="5029200" cy="4526280"/>
          </a:xfrm>
          <a:prstGeom prst="rect">
            <a:avLst/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417320"/>
            <a:ext cx="5029200" cy="0"/>
          </a:xfrm>
          <a:prstGeom prst="line">
            <a:avLst/>
          </a:prstGeom>
          <a:noFill/>
          <a:ln w="17780">
            <a:solidFill>
              <a:srgbClr val="1B2A4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24712" y="166420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1"/>
                </a:solidFill>
              </a:rPr>
              <a:t>Constraints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79576" y="2148840"/>
            <a:ext cx="43434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101828"/>
                </a:solidFill>
              </a:rPr>
              <a:t>Downtime reason codes are not agreed between Quality and Operations.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101828"/>
                </a:solidFill>
              </a:rPr>
              <a:t>Supplier nonconformance data is reviewed quarterly.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101828"/>
                </a:solidFill>
              </a:rPr>
              <a:t>Changeover knowledge sits with a handful of named people.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217920" y="1417320"/>
            <a:ext cx="5029200" cy="4526280"/>
          </a:xfrm>
          <a:prstGeom prst="rect">
            <a:avLst/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0" y="1417320"/>
            <a:ext cx="5029200" cy="0"/>
          </a:xfrm>
          <a:prstGeom prst="line">
            <a:avLst/>
          </a:prstGeom>
          <a:noFill/>
          <a:ln w="1778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73952" y="166420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1"/>
                </a:solidFill>
              </a:rPr>
              <a:t>Foundations in place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528816" y="2148840"/>
            <a:ext cx="43434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101828"/>
                </a:solidFill>
              </a:rPr>
              <a:t>Line 3 OEE has improved six months running.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101828"/>
                </a:solidFill>
              </a:rPr>
              <a:t>Thirteen initiatives are registered with owners and dates.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101828"/>
                </a:solidFill>
              </a:rPr>
              <a:t>Engineering and Quality already run a scored audit cadence.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49808" y="6400800"/>
            <a:ext cx="10744200" cy="0"/>
          </a:xfrm>
          <a:prstGeom prst="line">
            <a:avLst/>
          </a:prstGeom>
          <a:noFill/>
          <a:ln w="6350">
            <a:solidFill>
              <a:srgbClr val="D8DE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6492240"/>
            <a:ext cx="8961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67085"/>
                </a:solidFill>
              </a:rPr>
              <a:t>Consultify · Northwind Manufacturing Ltd. · Confidential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10698480" y="6492240"/>
            <a:ext cx="777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67085"/>
                </a:solidFill>
              </a:rPr>
              <a:t>slide 5</a:t>
            </a:r>
            <a:endParaRPr lang="en-US" sz="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808" y="329184"/>
            <a:ext cx="10607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2563EB"/>
                </a:solidFill>
              </a:rPr>
              <a:t>DELIVERY CAPACITY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749808" y="5943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B2A41"/>
                </a:solidFill>
              </a:rPr>
              <a:t>Load worksheet — programme roles, Sep 2026 to Mar 2027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749808" y="1124712"/>
            <a:ext cx="10744200" cy="0"/>
          </a:xfrm>
          <a:prstGeom prst="line">
            <a:avLst/>
          </a:prstGeom>
          <a:noFill/>
          <a:ln w="10160">
            <a:solidFill>
              <a:srgbClr val="D8DEE8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68680" y="1417320"/>
          <a:ext cx="10378440" cy="4434840"/>
        </p:xfrm>
        <a:graphic>
          <a:graphicData uri="http://schemas.openxmlformats.org/drawingml/2006/table">
            <a:tbl>
              <a:tblPr/>
              <a:tblGrid>
                <a:gridCol w="2011680"/>
                <a:gridCol w="2011680"/>
                <a:gridCol w="731520"/>
                <a:gridCol w="731520"/>
                <a:gridCol w="4892040"/>
              </a:tblGrid>
              <a:tr h="8869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Role</a:t>
                      </a:r>
                      <a:endParaRPr lang="en-US" sz="900" dirty="0"/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Team</a:t>
                      </a:r>
                      <a:endParaRPr lang="en-US" sz="900" dirty="0"/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FTE</a:t>
                      </a:r>
                      <a:endParaRPr lang="en-US" sz="900" dirty="0"/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Weeks</a:t>
                      </a:r>
                      <a:endParaRPr lang="en-US" sz="900" dirty="0"/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Primary focus</a:t>
                      </a:r>
                      <a:endParaRPr lang="en-US" sz="900" dirty="0"/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8869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01828"/>
                          </a:solidFill>
                        </a:rPr>
                        <a:t>Engagement lead</a:t>
                      </a:r>
                      <a:endParaRPr lang="en-US" sz="900" dirty="0"/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01828"/>
                          </a:solidFill>
                        </a:rPr>
                        <a:t>Consultify</a:t>
                      </a:r>
                      <a:endParaRPr lang="en-US" sz="900" dirty="0"/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01828"/>
                          </a:solidFill>
                        </a:rPr>
                        <a:t>0.4</a:t>
                      </a:r>
                      <a:endParaRPr lang="en-US" sz="900" dirty="0"/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01828"/>
                          </a:solidFill>
                        </a:rPr>
                        <a:t>26</a:t>
                      </a:r>
                      <a:endParaRPr lang="en-US" sz="900" dirty="0"/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01828"/>
                          </a:solidFill>
                        </a:rPr>
                        <a:t>Steering, board reporting, scope</a:t>
                      </a:r>
                      <a:endParaRPr lang="en-US" sz="900" dirty="0"/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869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01828"/>
                          </a:solidFill>
                        </a:rPr>
                        <a:t>Operations analyst</a:t>
                      </a:r>
                      <a:endParaRPr lang="en-US" sz="900" dirty="0"/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01828"/>
                          </a:solidFill>
                        </a:rPr>
                        <a:t>Plant Operations</a:t>
                      </a:r>
                      <a:endParaRPr lang="en-US" sz="900" dirty="0"/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01828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01828"/>
                          </a:solidFill>
                        </a:rPr>
                        <a:t>26</a:t>
                      </a:r>
                      <a:endParaRPr lang="en-US" sz="900" dirty="0"/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01828"/>
                          </a:solidFill>
                        </a:rPr>
                        <a:t>OEE and downtime reason codes</a:t>
                      </a:r>
                      <a:endParaRPr lang="en-US" sz="900" dirty="0"/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869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01828"/>
                          </a:solidFill>
                        </a:rPr>
                        <a:t>Quality engineer</a:t>
                      </a:r>
                      <a:endParaRPr lang="en-US" sz="900" dirty="0"/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01828"/>
                          </a:solidFill>
                        </a:rPr>
                        <a:t>Engineering &amp; Quality</a:t>
                      </a:r>
                      <a:endParaRPr lang="en-US" sz="900" dirty="0"/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01828"/>
                          </a:solidFill>
                        </a:rPr>
                        <a:t>0.6</a:t>
                      </a:r>
                      <a:endParaRPr lang="en-US" sz="900" dirty="0"/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01828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01828"/>
                          </a:solidFill>
                        </a:rPr>
                        <a:t>Supplier NC / SPC files</a:t>
                      </a:r>
                      <a:endParaRPr lang="en-US" sz="900" dirty="0"/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869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01828"/>
                          </a:solidFill>
                        </a:rPr>
                        <a:t>Data engineer</a:t>
                      </a:r>
                      <a:endParaRPr lang="en-US" sz="900" dirty="0"/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01828"/>
                          </a:solidFill>
                        </a:rPr>
                        <a:t>Digital and Data</a:t>
                      </a:r>
                      <a:endParaRPr lang="en-US" sz="900" dirty="0"/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01828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01828"/>
                          </a:solidFill>
                        </a:rPr>
                        <a:t>24</a:t>
                      </a:r>
                      <a:endParaRPr lang="en-US" sz="900" dirty="0"/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01828"/>
                          </a:solidFill>
                        </a:rPr>
                        <a:t>Shared production/quality data layer</a:t>
                      </a:r>
                      <a:endParaRPr lang="en-US" sz="900" dirty="0"/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49808" y="6400800"/>
            <a:ext cx="10744200" cy="0"/>
          </a:xfrm>
          <a:prstGeom prst="line">
            <a:avLst/>
          </a:prstGeom>
          <a:noFill/>
          <a:ln w="6350">
            <a:solidFill>
              <a:srgbClr val="D8DEE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49808" y="6492240"/>
            <a:ext cx="8961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67085"/>
                </a:solidFill>
              </a:rPr>
              <a:t>Consultify · Northwind Manufacturing Ltd. · Confidential</a:t>
            </a:r>
            <a:endParaRPr lang="en-US" sz="650" dirty="0"/>
          </a:p>
        </p:txBody>
      </p:sp>
      <p:sp>
        <p:nvSpPr>
          <p:cNvPr id="8" name="Text 5"/>
          <p:cNvSpPr/>
          <p:nvPr/>
        </p:nvSpPr>
        <p:spPr>
          <a:xfrm>
            <a:off x="10698480" y="6492240"/>
            <a:ext cx="777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67085"/>
                </a:solidFill>
              </a:rPr>
              <a:t>slide 6</a:t>
            </a:r>
            <a:endParaRPr lang="en-US" sz="650" dirty="0"/>
          </a:p>
        </p:txBody>
      </p:sp>
      <p:sp>
        <p:nvSpPr>
          <p:cNvPr id="9" name="Text 6"/>
          <p:cNvSpPr/>
          <p:nvPr/>
        </p:nvSpPr>
        <p:spPr>
          <a:xfrm>
            <a:off x="749808" y="6199632"/>
            <a:ext cx="8686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667085"/>
                </a:solidFill>
              </a:rPr>
              <a:t>Source: Consultify initiatives and teams; Northwind Manufacturing Ltd.</a:t>
            </a:r>
            <a:endParaRPr lang="en-US" sz="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808" y="329184"/>
            <a:ext cx="10607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2563EB"/>
                </a:solidFill>
              </a:rPr>
              <a:t>LINE 3 PERFORMANCE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749808" y="5943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B2A41"/>
                </a:solidFill>
              </a:rPr>
              <a:t>OEE recovered 5.4 points in six months — still short of target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749808" y="1124712"/>
            <a:ext cx="10744200" cy="0"/>
          </a:xfrm>
          <a:prstGeom prst="line">
            <a:avLst/>
          </a:prstGeom>
          <a:noFill/>
          <a:ln w="10160">
            <a:solidFill>
              <a:srgbClr val="D8DEE8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868680" y="1463040"/>
          <a:ext cx="6949440" cy="4343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8092440" y="1463040"/>
            <a:ext cx="3154680" cy="4343400"/>
          </a:xfrm>
          <a:prstGeom prst="rect">
            <a:avLst/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366760" y="1874520"/>
            <a:ext cx="2606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</a:rPr>
              <a:t>76.2% latest; the remaining gap is stable and measurable.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366760" y="345643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</a:rPr>
              <a:t>Target 78%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749808" y="6400800"/>
            <a:ext cx="10744200" cy="0"/>
          </a:xfrm>
          <a:prstGeom prst="line">
            <a:avLst/>
          </a:prstGeom>
          <a:noFill/>
          <a:ln w="6350">
            <a:solidFill>
              <a:srgbClr val="D8DEE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49808" y="6492240"/>
            <a:ext cx="8961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67085"/>
                </a:solidFill>
              </a:rPr>
              <a:t>Consultify · Northwind Manufacturing Ltd. · Confidential</a:t>
            </a:r>
            <a:endParaRPr lang="en-US" sz="650" dirty="0"/>
          </a:p>
        </p:txBody>
      </p:sp>
      <p:sp>
        <p:nvSpPr>
          <p:cNvPr id="11" name="Text 8"/>
          <p:cNvSpPr/>
          <p:nvPr/>
        </p:nvSpPr>
        <p:spPr>
          <a:xfrm>
            <a:off x="10698480" y="6492240"/>
            <a:ext cx="777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67085"/>
                </a:solidFill>
              </a:rPr>
              <a:t>slide 7</a:t>
            </a:r>
            <a:endParaRPr lang="en-US" sz="650" dirty="0"/>
          </a:p>
        </p:txBody>
      </p:sp>
      <p:sp>
        <p:nvSpPr>
          <p:cNvPr id="12" name="Text 9"/>
          <p:cNvSpPr/>
          <p:nvPr/>
        </p:nvSpPr>
        <p:spPr>
          <a:xfrm>
            <a:off x="749808" y="6199632"/>
            <a:ext cx="8686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667085"/>
                </a:solidFill>
              </a:rPr>
              <a:t>Source: Northwind KPI measurements · Jan–Jun 2026</a:t>
            </a:r>
            <a:endParaRPr lang="en-US" sz="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808" y="329184"/>
            <a:ext cx="10607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2563EB"/>
                </a:solidFill>
              </a:rPr>
              <a:t>BOARD DECISION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749808" y="5943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B2A41"/>
                </a:solidFill>
              </a:rPr>
              <a:t>Do we fund the shared data foundation ahead of the automation pilot?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749808" y="1124712"/>
            <a:ext cx="10744200" cy="0"/>
          </a:xfrm>
          <a:prstGeom prst="line">
            <a:avLst/>
          </a:prstGeom>
          <a:noFill/>
          <a:ln w="10160">
            <a:solidFill>
              <a:srgbClr val="D8DE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417320"/>
            <a:ext cx="5029200" cy="2331720"/>
          </a:xfrm>
          <a:prstGeom prst="rect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24712" y="1664208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20" kern="0" dirty="0">
                <a:solidFill>
                  <a:srgbClr val="2563EB"/>
                </a:solidFill>
              </a:rPr>
              <a:t>OPTION A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124712" y="2011680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B2A41"/>
                </a:solidFill>
              </a:rPr>
              <a:t>Data foundation first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24712" y="2542032"/>
            <a:ext cx="4480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01828"/>
                </a:solidFill>
              </a:rPr>
              <a:t>Sequence MES rollout and a shared data layer ahead of everything else.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389120" y="1618488"/>
            <a:ext cx="1188720" cy="256032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RECOMMENDED</a:t>
            </a:r>
            <a:endParaRPr lang="en-US" sz="650" dirty="0"/>
          </a:p>
        </p:txBody>
      </p:sp>
      <p:sp>
        <p:nvSpPr>
          <p:cNvPr id="10" name="Shape 8"/>
          <p:cNvSpPr/>
          <p:nvPr/>
        </p:nvSpPr>
        <p:spPr>
          <a:xfrm>
            <a:off x="6217920" y="1417320"/>
            <a:ext cx="5029200" cy="233172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73952" y="1664208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20" kern="0" dirty="0">
                <a:solidFill>
                  <a:srgbClr val="2563EB"/>
                </a:solidFill>
              </a:rPr>
              <a:t>OPTION B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6473952" y="2011680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B2A41"/>
                </a:solidFill>
              </a:rPr>
              <a:t>Run both in parallel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73952" y="2542032"/>
            <a:ext cx="4480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01828"/>
                </a:solidFill>
              </a:rPr>
              <a:t>Keep the automation pilot on current data and accept higher rework risk.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868680" y="4069080"/>
            <a:ext cx="10378440" cy="1143000"/>
          </a:xfrm>
          <a:prstGeom prst="rect">
            <a:avLst/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8680" y="4069080"/>
            <a:ext cx="73152" cy="1143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15568" y="431596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20" kern="0" dirty="0">
                <a:solidFill>
                  <a:srgbClr val="2563EB"/>
                </a:solidFill>
              </a:rPr>
              <a:t>RECOMMENDATION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1115568" y="4599432"/>
            <a:ext cx="9692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B2A41"/>
                </a:solidFill>
              </a:rPr>
              <a:t>Approve Option A and hold the automation envelope unchanged.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49808" y="6400800"/>
            <a:ext cx="10744200" cy="0"/>
          </a:xfrm>
          <a:prstGeom prst="line">
            <a:avLst/>
          </a:prstGeom>
          <a:noFill/>
          <a:ln w="6350">
            <a:solidFill>
              <a:srgbClr val="D8DE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" y="6492240"/>
            <a:ext cx="8961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67085"/>
                </a:solidFill>
              </a:rPr>
              <a:t>Consultify · Northwind Manufacturing Ltd. · Confidential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10698480" y="6492240"/>
            <a:ext cx="777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67085"/>
                </a:solidFill>
              </a:rPr>
              <a:t>slide 8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Consultify · DBR77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Northwind 2027 — Operational Maturity Assessment</dc:title>
  <dc:subject>Northwind 2027 — Operational Maturity Assessment</dc:subject>
  <dc:creator>Consultify</dc:creator>
  <cp:lastModifiedBy>Consultify</cp:lastModifiedBy>
  <cp:revision>1</cp:revision>
  <dcterms:created xsi:type="dcterms:W3CDTF">2026-09-16T13:19:06Z</dcterms:created>
  <dcterms:modified xsi:type="dcterms:W3CDTF">2026-09-16T13:19:06Z</dcterms:modified>
</cp:coreProperties>
</file>