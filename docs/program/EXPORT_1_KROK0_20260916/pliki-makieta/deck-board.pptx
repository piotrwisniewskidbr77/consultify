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OEE — Line 3 (%)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41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 2026</c:v>
                  </c:pt>
                  <c:pt idx="1">
                    <c:v>Feb 2026</c:v>
                  </c:pt>
                  <c:pt idx="2">
                    <c:v>Mar 2026</c:v>
                  </c:pt>
                  <c:pt idx="3">
                    <c:v>Apr 2026</c:v>
                  </c:pt>
                  <c:pt idx="4">
                    <c:v>May 2026</c:v>
                  </c:pt>
                  <c:pt idx="5">
                    <c:v>Jun 2026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70.8</c:v>
                </c:pt>
                <c:pt idx="1">
                  <c:v>71.6</c:v>
                </c:pt>
                <c:pt idx="2">
                  <c:v>72.9</c:v>
                </c:pt>
                <c:pt idx="3">
                  <c:v>74.1</c:v>
                </c:pt>
                <c:pt idx="4">
                  <c:v>75.4</c:v>
                </c:pt>
                <c:pt idx="5">
                  <c:v>76.2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B2A41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Target 78%</c:v>
                </c:pt>
              </c:strCache>
            </c:strRef>
          </c:tx>
          <c:spPr>
            <a:solidFill>
              <a:srgbClr val="46556B"/>
            </a:solidFill>
            <a:ln w="19050" cap="flat">
              <a:solidFill>
                <a:srgbClr val="46556B"/>
              </a:solidFill>
              <a:prstDash val="dash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4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46556B"/>
              </a:solidFill>
              <a:ln w="9525" cap="flat">
                <a:solidFill>
                  <a:srgbClr val="4655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 2026</c:v>
                  </c:pt>
                  <c:pt idx="1">
                    <c:v>Feb 2026</c:v>
                  </c:pt>
                  <c:pt idx="2">
                    <c:v>Mar 2026</c:v>
                  </c:pt>
                  <c:pt idx="3">
                    <c:v>Apr 2026</c:v>
                  </c:pt>
                  <c:pt idx="4">
                    <c:v>May 2026</c:v>
                  </c:pt>
                  <c:pt idx="5">
                    <c:v>Jun 2026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78</c:v>
                </c:pt>
                <c:pt idx="1">
                  <c:v>78</c:v>
                </c:pt>
                <c:pt idx="2">
                  <c:v>78</c:v>
                </c:pt>
                <c:pt idx="3">
                  <c:v>78</c:v>
                </c:pt>
                <c:pt idx="4">
                  <c:v>78</c:v>
                </c:pt>
                <c:pt idx="5">
                  <c:v>78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B2A4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DEE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66"/>
        </c:scaling>
        <c:delete val="0"/>
        <c:axPos val="l"/>
        <c:majorGridlines>
          <c:spPr>
            <a:ln w="6350" cap="flat">
              <a:solidFill>
                <a:srgbClr val="D8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67085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475488"/>
            <a:ext cx="1371600" cy="475488"/>
          </a:xfrm>
          <a:prstGeom prst="rect">
            <a:avLst/>
          </a:prstGeom>
          <a:solidFill>
            <a:srgbClr val="22334D"/>
          </a:solidFill>
          <a:ln w="9525">
            <a:solidFill>
              <a:srgbClr val="3A4E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23760" y="47548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LOGO ]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13232" y="1828800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7FA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FINAL REVIEW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13232" y="2103120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Northwind 2027 — Operational Maturity Assessment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13232" y="3182112"/>
            <a:ext cx="9144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3346704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Northwind Manufacturing Ltd.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" y="3639312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September 2026   ·   Prepared by Consultify · DBR77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448513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cover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566928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984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60704" y="12984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Northwind stands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0" y="129844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result across seven axes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682496"/>
            <a:ext cx="804672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013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60704" y="180136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numbers say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0" y="18013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operational KPIs against target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185416"/>
            <a:ext cx="804672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3042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60704" y="23042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3 performance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0" y="230428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OEE recovery, January to June 2026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688336"/>
            <a:ext cx="804672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8072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60704" y="280720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capacity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89120" y="280720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load across the programme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191256"/>
            <a:ext cx="804672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3101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60704" y="331012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in the way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389120" y="331012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RAID items above tolerance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694176"/>
            <a:ext cx="804672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8130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60704" y="38130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for the board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389120" y="381304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sequencing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197096"/>
            <a:ext cx="804672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686300"/>
            <a:ext cx="804672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741164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Consultify  ·  Northwind Manufacturing Ltd.  ·  Confidential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680960" y="47411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048256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7FA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13232" y="230428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Northwind stands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13232" y="2926080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result across seven axes · frozen DRD output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4686300"/>
            <a:ext cx="8046720" cy="0"/>
          </a:xfrm>
          <a:prstGeom prst="line">
            <a:avLst/>
          </a:prstGeom>
          <a:noFill/>
          <a:ln w="9525">
            <a:solidFill>
              <a:srgbClr val="2E41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41164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Consultify  ·  Northwind Manufacturing Ltd.  ·  Confidential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680960" y="47411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8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RESULT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 on every axis — the gap is connection, not capability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566928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385316"/>
            <a:ext cx="77724" cy="777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261872"/>
            <a:ext cx="7808976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seven axes sit at Level 3 (Defined / Emerging): practices exist and repeat inside teams, but do not connect across functions.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052828"/>
            <a:ext cx="77724" cy="777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929384"/>
            <a:ext cx="7808976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Value Foundation and Customer &amp; Market show the widest gap to target — no shared production / quality / supplier data layer.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2720340"/>
            <a:ext cx="77724" cy="777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596896"/>
            <a:ext cx="7808976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and quality leadership named the same root cause independently during discovery interviews.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163824"/>
            <a:ext cx="77724" cy="777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3040380"/>
            <a:ext cx="7808976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shopfloor engineering talent and customer trust are assets to build on, not problems to fix.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26180"/>
            <a:ext cx="8046720" cy="749808"/>
          </a:xfrm>
          <a:prstGeom prst="rect">
            <a:avLst/>
          </a:prstGeom>
          <a:solidFill>
            <a:srgbClr val="F1F4F8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726180"/>
            <a:ext cx="50292" cy="7498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" y="379933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68096" y="4000500"/>
            <a:ext cx="75895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data foundation before scaling automation or predictive maintenance spend — otherwise every later investment inherits the same fragmentation.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686300"/>
            <a:ext cx="804672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741164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Consultify  ·  Northwind Manufacturing Ltd.  ·  Confidential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680960" y="47411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holds performance back — and what already works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566928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61872"/>
            <a:ext cx="3840480" cy="3223260"/>
          </a:xfrm>
          <a:prstGeom prst="rect">
            <a:avLst/>
          </a:prstGeom>
          <a:solidFill>
            <a:srgbClr val="F1F4F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61872"/>
            <a:ext cx="3840480" cy="41148"/>
          </a:xfrm>
          <a:prstGeom prst="rect">
            <a:avLst/>
          </a:prstGeom>
          <a:solidFill>
            <a:srgbClr val="46556B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408176"/>
            <a:ext cx="340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86384" y="1888236"/>
            <a:ext cx="68580" cy="68580"/>
          </a:xfrm>
          <a:prstGeom prst="rect">
            <a:avLst/>
          </a:prstGeom>
          <a:solidFill>
            <a:srgbClr val="46556B"/>
          </a:solidFill>
          <a:ln/>
        </p:spPr>
      </p:sp>
      <p:sp>
        <p:nvSpPr>
          <p:cNvPr id="9" name="Text 7"/>
          <p:cNvSpPr/>
          <p:nvPr/>
        </p:nvSpPr>
        <p:spPr>
          <a:xfrm>
            <a:off x="969264" y="1773936"/>
            <a:ext cx="3182112" cy="6537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Downtime reason codes are not agreed between Quality and Operations — the same stop is counted twice.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86384" y="2724912"/>
            <a:ext cx="68580" cy="68580"/>
          </a:xfrm>
          <a:prstGeom prst="rect">
            <a:avLst/>
          </a:prstGeom>
          <a:solidFill>
            <a:srgbClr val="46556B"/>
          </a:solidFill>
          <a:ln/>
        </p:spPr>
      </p:sp>
      <p:sp>
        <p:nvSpPr>
          <p:cNvPr id="11" name="Text 9"/>
          <p:cNvSpPr/>
          <p:nvPr/>
        </p:nvSpPr>
        <p:spPr>
          <a:xfrm>
            <a:off x="969264" y="2610612"/>
            <a:ext cx="3182112" cy="6537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nonconformance data is reviewed quarterly; two suppliers worsened before anyone acted.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6384" y="3561588"/>
            <a:ext cx="68580" cy="68580"/>
          </a:xfrm>
          <a:prstGeom prst="rect">
            <a:avLst/>
          </a:prstGeom>
          <a:solidFill>
            <a:srgbClr val="46556B"/>
          </a:solidFill>
          <a:ln/>
        </p:spPr>
      </p:sp>
      <p:sp>
        <p:nvSpPr>
          <p:cNvPr id="13" name="Text 11"/>
          <p:cNvSpPr/>
          <p:nvPr/>
        </p:nvSpPr>
        <p:spPr>
          <a:xfrm>
            <a:off x="969264" y="3447288"/>
            <a:ext cx="3182112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Changeover and SPC knowledge sits with a handful of named people.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1261872"/>
            <a:ext cx="3840480" cy="3223260"/>
          </a:xfrm>
          <a:prstGeom prst="rect">
            <a:avLst/>
          </a:prstGeom>
          <a:solidFill>
            <a:srgbClr val="F1F4F8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1261872"/>
            <a:ext cx="384048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4974336" y="1408176"/>
            <a:ext cx="340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 in place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92624" y="1888236"/>
            <a:ext cx="68580" cy="68580"/>
          </a:xfrm>
          <a:prstGeom prst="rect">
            <a:avLst/>
          </a:prstGeom>
          <a:solidFill>
            <a:srgbClr val="46556B"/>
          </a:solidFill>
          <a:ln/>
        </p:spPr>
      </p:sp>
      <p:sp>
        <p:nvSpPr>
          <p:cNvPr id="18" name="Text 16"/>
          <p:cNvSpPr/>
          <p:nvPr/>
        </p:nvSpPr>
        <p:spPr>
          <a:xfrm>
            <a:off x="5175504" y="1773936"/>
            <a:ext cx="3182112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3 OEE has improved six months running, from 70.8% to 76.2%.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92624" y="2519172"/>
            <a:ext cx="68580" cy="68580"/>
          </a:xfrm>
          <a:prstGeom prst="rect">
            <a:avLst/>
          </a:prstGeom>
          <a:solidFill>
            <a:srgbClr val="46556B"/>
          </a:solidFill>
          <a:ln/>
        </p:spPr>
      </p:sp>
      <p:sp>
        <p:nvSpPr>
          <p:cNvPr id="20" name="Text 18"/>
          <p:cNvSpPr/>
          <p:nvPr/>
        </p:nvSpPr>
        <p:spPr>
          <a:xfrm>
            <a:off x="5175504" y="2404872"/>
            <a:ext cx="3182112" cy="6537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Thirteen initiatives are registered with owners, budgets and dates — the portfolio is governed.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992624" y="3355848"/>
            <a:ext cx="68580" cy="68580"/>
          </a:xfrm>
          <a:prstGeom prst="rect">
            <a:avLst/>
          </a:prstGeom>
          <a:solidFill>
            <a:srgbClr val="46556B"/>
          </a:solidFill>
          <a:ln/>
        </p:spPr>
      </p:sp>
      <p:sp>
        <p:nvSpPr>
          <p:cNvPr id="22" name="Text 20"/>
          <p:cNvSpPr/>
          <p:nvPr/>
        </p:nvSpPr>
        <p:spPr>
          <a:xfrm>
            <a:off x="5175504" y="3241548"/>
            <a:ext cx="3182112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&amp; Quality already runs a goods-in scorecard; it needs a gate, not a rebuild.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686300"/>
            <a:ext cx="804672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741164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Consultify  ·  Northwind Manufacturing Ltd.  ·  Confidential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680960" y="47411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CAPACITY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worksheet — programme roles, Sep 2026 to Mar 2027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566928" cy="32004"/>
          </a:xfrm>
          <a:prstGeom prst="rect">
            <a:avLst/>
          </a:prstGeom>
          <a:solidFill>
            <a:srgbClr val="2563EB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61872"/>
          <a:ext cx="80467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148840"/>
                <a:gridCol w="594360"/>
                <a:gridCol w="640080"/>
                <a:gridCol w="30632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focus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Engagement lead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655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Consultify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01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01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655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Steering, board reporting, scope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 analyst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655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Plant Operations — Leeds &amp; Rotherham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01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01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655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OEE and downtime reason codes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 engineer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655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Engineering &amp; Quality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01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01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655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Supplier NC gate, SPC rules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engineer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655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 and Data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01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01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655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Shared production/quality data layer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 security lead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655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 and Data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01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01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655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OT/IT segmentation hardening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roles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Peak demand falls in Q4 2026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7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357116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Consultify · Initiatives and Teams, Northwind Manufacturing Ltd.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4686300"/>
            <a:ext cx="804672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741164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Consultify  ·  Northwind Manufacturing Ltd.  ·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680960" y="47411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3 PERFORMANCE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OEE recovered 5.4 points in six months — still 1.8 short of target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566928" cy="32004"/>
          </a:xfrm>
          <a:prstGeom prst="rect">
            <a:avLst/>
          </a:prstGeom>
          <a:solidFill>
            <a:srgbClr val="2563EB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548640" y="1307592"/>
          <a:ext cx="5069434" cy="26014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59475" y="1307592"/>
            <a:ext cx="2735885" cy="2601468"/>
          </a:xfrm>
          <a:prstGeom prst="rect">
            <a:avLst/>
          </a:prstGeom>
          <a:solidFill>
            <a:srgbClr val="F1F4F8"/>
          </a:solidFill>
          <a:ln/>
        </p:spPr>
      </p:sp>
      <p:sp>
        <p:nvSpPr>
          <p:cNvPr id="7" name="Text 4"/>
          <p:cNvSpPr/>
          <p:nvPr/>
        </p:nvSpPr>
        <p:spPr>
          <a:xfrm>
            <a:off x="6060643" y="1472184"/>
            <a:ext cx="233354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060643" y="1673352"/>
            <a:ext cx="233354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78.0 %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60643" y="2185416"/>
            <a:ext cx="233354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(JUN 2026)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060643" y="2386584"/>
            <a:ext cx="233354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76.2 %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060643" y="2880360"/>
            <a:ext cx="233354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46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band 74–78 %. Six consecutive months of improvement; at the current rate target is met in Q1 2027.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4357116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Consultify · Results → KPI, measurements Jan–Jun 2026 (NW-OEE-L3).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48640" y="4686300"/>
            <a:ext cx="804672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741164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Consultify  ·  Northwind Manufacturing Ltd.  ·  Confidential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680960" y="47411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DECISION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we fund the shared data foundation ahead of the automation pilot?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566928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61872"/>
            <a:ext cx="3840480" cy="1517904"/>
          </a:xfrm>
          <a:prstGeom prst="rect">
            <a:avLst/>
          </a:prstGeom>
          <a:solidFill>
            <a:srgbClr val="DBE7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371600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49808" y="1572768"/>
            <a:ext cx="2231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foundation first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1847088"/>
            <a:ext cx="34381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6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£410k · MES Line 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" y="2066544"/>
            <a:ext cx="34381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MES Rollout Line 3 and the shared data layer ahead of everything else. Automation pilot slips one quarter.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99232" y="1554480"/>
            <a:ext cx="1188720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2999232" y="15544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754880" y="1261872"/>
            <a:ext cx="3840480" cy="151790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1371600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956048" y="1572768"/>
            <a:ext cx="2231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both in parallel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56048" y="1847088"/>
            <a:ext cx="34381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65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£930k · MES + Warehouse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56048" y="2066544"/>
            <a:ext cx="34381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Warehouse Automation Pilot on its current date. Higher peak load on Digital and Data; cutover risk rises.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999232"/>
            <a:ext cx="8046720" cy="786384"/>
          </a:xfrm>
          <a:prstGeom prst="rect">
            <a:avLst/>
          </a:prstGeom>
          <a:solidFill>
            <a:srgbClr val="F1F4F8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999232"/>
            <a:ext cx="50292" cy="78638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" y="30906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68096" y="32918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Option A. Re-baseline Warehouse Automation Pilot to Q2 2027 and hold the £520k envelope unchanged.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3931920"/>
            <a:ext cx="2499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OWNER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48640" y="4105656"/>
            <a:ext cx="2499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— Operations &amp; Capital Committee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30880" y="3931920"/>
            <a:ext cx="2499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BY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230880" y="4105656"/>
            <a:ext cx="2499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October 2026 (before summer shutdown planning)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13120" y="3931920"/>
            <a:ext cx="2499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RAID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913120" y="4105656"/>
            <a:ext cx="2499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3 cutover slips past the summer shutdown window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686300"/>
            <a:ext cx="804672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741164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Consultify  ·  Northwind Manufacturing Ltd.  ·  Confidential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680960" y="47411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2026-09-16T04:03:51Z</dcterms:created>
  <dcterms:modified xsi:type="dcterms:W3CDTF">2026-09-16T04:03:51Z</dcterms:modified>
</cp:coreProperties>
</file>