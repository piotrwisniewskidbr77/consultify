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OEE — Line 3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70.8</c:v>
                </c:pt>
                <c:pt idx="1">
                  <c:v>71.6</c:v>
                </c:pt>
                <c:pt idx="2">
                  <c:v>72.9</c:v>
                </c:pt>
                <c:pt idx="3">
                  <c:v>74.1</c:v>
                </c:pt>
                <c:pt idx="4">
                  <c:v>75.4</c:v>
                </c:pt>
                <c:pt idx="5">
                  <c:v>76.2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Target 78%</c:v>
                </c:pt>
              </c:strCache>
            </c:strRef>
          </c:tx>
          <c:spPr>
            <a:solidFill>
              <a:srgbClr val="667085"/>
            </a:solidFill>
            <a:ln w="19050" cap="flat">
              <a:solidFill>
                <a:srgbClr val="667085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667085"/>
              </a:solidFill>
              <a:ln w="9525" cap="flat">
                <a:solidFill>
                  <a:srgbClr val="66708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78</c:v>
                </c:pt>
                <c:pt idx="1">
                  <c:v>78</c:v>
                </c:pt>
                <c:pt idx="2">
                  <c:v>78</c:v>
                </c:pt>
                <c:pt idx="3">
                  <c:v>78</c:v>
                </c:pt>
                <c:pt idx="4">
                  <c:v>78</c:v>
                </c:pt>
                <c:pt idx="5">
                  <c:v>78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" y="135331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80" kern="0" dirty="0">
                <a:solidFill>
                  <a:srgbClr val="7FA8F5"/>
                </a:solidFill>
              </a:rPr>
              <a:t>CLIENT FINAL REVIEW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51560" y="1783080"/>
            <a:ext cx="8961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Northwind 2027 — Operational Maturity Assessment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1051560" y="3054096"/>
            <a:ext cx="164592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33375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4E6"/>
                </a:solidFill>
              </a:rPr>
              <a:t>Northwind Manufacturing Ltd.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67588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C0"/>
                </a:solidFill>
              </a:rPr>
              <a:t>16 September 2026 · Prepared by Consultify · DBR77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674352" y="658368"/>
            <a:ext cx="1463040" cy="384048"/>
          </a:xfrm>
          <a:prstGeom prst="rect">
            <a:avLst/>
          </a:prstGeom>
          <a:solidFill>
            <a:srgbClr val="2134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[CLIENT LOGO]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051560" y="59893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40" kern="0" dirty="0">
                <a:solidFill>
                  <a:srgbClr val="8FA3C0"/>
                </a:solidFill>
              </a:rPr>
              <a:t>CONFIDENTIAL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329184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2563EB"/>
                </a:solidFill>
              </a:rPr>
              <a:t>AGENDA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49808" y="5943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B2A41"/>
                </a:solidFill>
              </a:rPr>
              <a:t>What we will cover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49808" y="1124712"/>
            <a:ext cx="10744200" cy="0"/>
          </a:xfrm>
          <a:prstGeom prst="line">
            <a:avLst/>
          </a:prstGeom>
          <a:noFill/>
          <a:ln w="10160">
            <a:solidFill>
              <a:srgbClr val="D8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173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481328" y="1417320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1828"/>
                </a:solidFill>
              </a:rPr>
              <a:t>Where Northwind stands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0" y="1417320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Maturity result across seven axes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28216"/>
            <a:ext cx="10469880" cy="0"/>
          </a:xfrm>
          <a:prstGeom prst="line">
            <a:avLst/>
          </a:prstGeom>
          <a:noFill/>
          <a:ln w="6350">
            <a:solidFill>
              <a:srgbClr val="D8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03911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02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81328" y="2039112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1828"/>
                </a:solidFill>
              </a:rPr>
              <a:t>What the numbers say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0" y="2039112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Eight operational KPIs against target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68680" y="2350008"/>
            <a:ext cx="10469880" cy="0"/>
          </a:xfrm>
          <a:prstGeom prst="line">
            <a:avLst/>
          </a:prstGeom>
          <a:noFill/>
          <a:ln w="6350">
            <a:solidFill>
              <a:srgbClr val="D8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66090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03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81328" y="2660904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1828"/>
                </a:solidFill>
              </a:rPr>
              <a:t>Delivery capacity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2660904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Role load across the programme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68680" y="2971800"/>
            <a:ext cx="10469880" cy="0"/>
          </a:xfrm>
          <a:prstGeom prst="line">
            <a:avLst/>
          </a:prstGeom>
          <a:noFill/>
          <a:ln w="6350">
            <a:solidFill>
              <a:srgbClr val="D8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28269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04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81328" y="3282696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1828"/>
                </a:solidFill>
              </a:rPr>
              <a:t>Decision for the board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3282696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Investment sequencing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68680" y="3593592"/>
            <a:ext cx="10469880" cy="0"/>
          </a:xfrm>
          <a:prstGeom prst="line">
            <a:avLst/>
          </a:prstGeom>
          <a:noFill/>
          <a:ln w="6350">
            <a:solidFill>
              <a:srgbClr val="D8DE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6400800"/>
            <a:ext cx="10744200" cy="0"/>
          </a:xfrm>
          <a:prstGeom prst="line">
            <a:avLst/>
          </a:prstGeom>
          <a:noFill/>
          <a:ln w="6350">
            <a:solidFill>
              <a:srgbClr val="D8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6492240"/>
            <a:ext cx="8961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Consultify · Northwind Manufacturing Ltd. · Confidential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0698480" y="6492240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slide 2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" y="19659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80" kern="0" dirty="0">
                <a:solidFill>
                  <a:srgbClr val="7FA8F5"/>
                </a:solidFill>
              </a:rPr>
              <a:t>SECTION 01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51560" y="235915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Where Northwind stands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51560" y="320040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4E6"/>
                </a:solidFill>
              </a:rPr>
              <a:t>Maturity result across seven axes · frozen DRD output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329184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2563EB"/>
                </a:solidFill>
              </a:rPr>
              <a:t>MATURITY RESULT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49808" y="5943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B2A41"/>
                </a:solidFill>
              </a:rPr>
              <a:t>Level 3 on every axis — the gap is connection, not capability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49808" y="1124712"/>
            <a:ext cx="10744200" cy="0"/>
          </a:xfrm>
          <a:prstGeom prst="line">
            <a:avLst/>
          </a:prstGeom>
          <a:noFill/>
          <a:ln w="10160">
            <a:solidFill>
              <a:srgbClr val="D8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444752"/>
            <a:ext cx="101041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01828"/>
                </a:solidFill>
              </a:rPr>
              <a:t>All seven axes sit at Level 3; practices exist and repeat inside teams.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01828"/>
                </a:solidFill>
              </a:rPr>
              <a:t>Data and Value Foundation shows the widest gap to target.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01828"/>
                </a:solidFill>
              </a:rPr>
              <a:t>Strong shopfloor engineering talent cannot compensate for disconnected systems.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68680" y="5349240"/>
            <a:ext cx="10378440" cy="658368"/>
          </a:xfrm>
          <a:prstGeom prst="rect">
            <a:avLst/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5349240"/>
            <a:ext cx="73152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544982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20" kern="0" dirty="0">
                <a:solidFill>
                  <a:srgbClr val="2563EB"/>
                </a:solidFill>
              </a:rPr>
              <a:t>SO WHAT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097280" y="5623560"/>
            <a:ext cx="9829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01828"/>
                </a:solidFill>
              </a:rPr>
              <a:t>Fix the data foundation before scaling automation or predictive maintenance spend.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49808" y="6400800"/>
            <a:ext cx="10744200" cy="0"/>
          </a:xfrm>
          <a:prstGeom prst="line">
            <a:avLst/>
          </a:prstGeom>
          <a:noFill/>
          <a:ln w="6350">
            <a:solidFill>
              <a:srgbClr val="D8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6492240"/>
            <a:ext cx="8961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Consultify · Northwind Manufacturing Ltd. · Confidential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0698480" y="6492240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slide 4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329184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2563EB"/>
                </a:solidFill>
              </a:rPr>
              <a:t>FINDINGS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49808" y="5943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B2A41"/>
                </a:solidFill>
              </a:rPr>
              <a:t>What holds performance back — and what already works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49808" y="1124712"/>
            <a:ext cx="10744200" cy="0"/>
          </a:xfrm>
          <a:prstGeom prst="line">
            <a:avLst/>
          </a:prstGeom>
          <a:noFill/>
          <a:ln w="10160">
            <a:solidFill>
              <a:srgbClr val="D8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417320"/>
            <a:ext cx="5029200" cy="4526280"/>
          </a:xfrm>
          <a:prstGeom prst="rect">
            <a:avLst/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417320"/>
            <a:ext cx="5029200" cy="0"/>
          </a:xfrm>
          <a:prstGeom prst="line">
            <a:avLst/>
          </a:prstGeom>
          <a:noFill/>
          <a:ln w="17780">
            <a:solidFill>
              <a:srgbClr val="1B2A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16642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</a:rPr>
              <a:t>Constraints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79576" y="2148840"/>
            <a:ext cx="4343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1828"/>
                </a:solidFill>
              </a:rPr>
              <a:t>Downtime reason codes are not agreed between Quality and Operations.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1828"/>
                </a:solidFill>
              </a:rPr>
              <a:t>Supplier nonconformance data is reviewed quarterly.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1828"/>
                </a:solidFill>
              </a:rPr>
              <a:t>Changeover knowledge sits with a handful of named people.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029200" cy="4526280"/>
          </a:xfrm>
          <a:prstGeom prst="rect">
            <a:avLst/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417320"/>
            <a:ext cx="502920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3952" y="16642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</a:rPr>
              <a:t>Foundations in place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28816" y="2148840"/>
            <a:ext cx="4343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1828"/>
                </a:solidFill>
              </a:rPr>
              <a:t>Line 3 OEE has improved six months running.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1828"/>
                </a:solidFill>
              </a:rPr>
              <a:t>Thirteen initiatives are registered with owners and dates.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1828"/>
                </a:solidFill>
              </a:rPr>
              <a:t>Engineering and Quality already run a scored audit cadence.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9808" y="6400800"/>
            <a:ext cx="10744200" cy="0"/>
          </a:xfrm>
          <a:prstGeom prst="line">
            <a:avLst/>
          </a:prstGeom>
          <a:noFill/>
          <a:ln w="6350">
            <a:solidFill>
              <a:srgbClr val="D8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6492240"/>
            <a:ext cx="8961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Consultify · Northwind Manufacturing Ltd. · Confidential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0698480" y="6492240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slide 5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329184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2563EB"/>
                </a:solidFill>
              </a:rPr>
              <a:t>DELIVERY CAPACITY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49808" y="5943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B2A41"/>
                </a:solidFill>
              </a:rPr>
              <a:t>Load worksheet — programme roles, Sep 2026 to Mar 2027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49808" y="1124712"/>
            <a:ext cx="10744200" cy="0"/>
          </a:xfrm>
          <a:prstGeom prst="line">
            <a:avLst/>
          </a:prstGeom>
          <a:noFill/>
          <a:ln w="10160">
            <a:solidFill>
              <a:srgbClr val="D8DEE8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417320"/>
          <a:ext cx="103784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731520"/>
                <a:gridCol w="731520"/>
                <a:gridCol w="4892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Team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FTE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Weeks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Primary focus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2A41"/>
                          </a:solidFill>
                        </a:rPr>
                        <a:t>Engagement lead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828"/>
                          </a:solidFill>
                        </a:rPr>
                        <a:t>Consultify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828"/>
                          </a:solidFill>
                        </a:rPr>
                        <a:t>0.4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828"/>
                          </a:solidFill>
                        </a:rPr>
                        <a:t>26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828"/>
                          </a:solidFill>
                        </a:rPr>
                        <a:t>Steering, board reporting, scope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2A41"/>
                          </a:solidFill>
                        </a:rPr>
                        <a:t>Operations analyst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828"/>
                          </a:solidFill>
                        </a:rPr>
                        <a:t>Plant Operations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828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828"/>
                          </a:solidFill>
                        </a:rPr>
                        <a:t>26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828"/>
                          </a:solidFill>
                        </a:rPr>
                        <a:t>OEE and downtime reason codes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2A41"/>
                          </a:solidFill>
                        </a:rPr>
                        <a:t>Quality engineer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828"/>
                          </a:solidFill>
                        </a:rPr>
                        <a:t>Engineering &amp; Quality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828"/>
                          </a:solidFill>
                        </a:rPr>
                        <a:t>0.6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828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828"/>
                          </a:solidFill>
                        </a:rPr>
                        <a:t>Supplier NC / SPC files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2A41"/>
                          </a:solidFill>
                        </a:rPr>
                        <a:t>Data engineer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828"/>
                          </a:solidFill>
                        </a:rPr>
                        <a:t>Digital and Data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828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828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828"/>
                          </a:solidFill>
                        </a:rPr>
                        <a:t>Shared production/quality data layer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2A41"/>
                          </a:solidFill>
                        </a:rPr>
                        <a:t>OT security lead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828"/>
                          </a:solidFill>
                        </a:rPr>
                        <a:t>Digital and Data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828"/>
                          </a:solidFill>
                        </a:rPr>
                        <a:t>0.3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828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1828"/>
                          </a:solidFill>
                        </a:rPr>
                        <a:t>OT/IT segmentation hardening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2A41"/>
                          </a:solidFill>
                        </a:rPr>
                        <a:t>Total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970" cap="flat" cmpd="sng" algn="ctr">
                      <a:solidFill>
                        <a:srgbClr val="1B2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2A41"/>
                          </a:solidFill>
                        </a:rPr>
                        <a:t>5 roles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970" cap="flat" cmpd="sng" algn="ctr">
                      <a:solidFill>
                        <a:srgbClr val="1B2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2A41"/>
                          </a:solidFill>
                        </a:rPr>
                        <a:t>3.3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970" cap="flat" cmpd="sng" algn="ctr">
                      <a:solidFill>
                        <a:srgbClr val="1B2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2A41"/>
                          </a:solidFill>
                        </a:rPr>
                        <a:t>108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970" cap="flat" cmpd="sng" algn="ctr">
                      <a:solidFill>
                        <a:srgbClr val="1B2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2A41"/>
                          </a:solidFill>
                        </a:rPr>
                        <a:t>Peak demand falls in Q4 2026</a:t>
                      </a:r>
                      <a:endParaRPr lang="en-US" sz="9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970" cap="flat" cmpd="sng" algn="ctr">
                      <a:solidFill>
                        <a:srgbClr val="1B2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49808" y="6400800"/>
            <a:ext cx="10744200" cy="0"/>
          </a:xfrm>
          <a:prstGeom prst="line">
            <a:avLst/>
          </a:prstGeom>
          <a:noFill/>
          <a:ln w="6350">
            <a:solidFill>
              <a:srgbClr val="D8DE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9808" y="6492240"/>
            <a:ext cx="8961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Consultify · Northwind Manufacturing Ltd. · Confidential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10698480" y="6492240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slide 6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749808" y="6199632"/>
            <a:ext cx="8686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Source: Consultify initiatives and teams; Northwind Manufacturing Ltd.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329184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2563EB"/>
                </a:solidFill>
              </a:rPr>
              <a:t>LINE 3 PERFORMANCE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49808" y="5943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B2A41"/>
                </a:solidFill>
              </a:rPr>
              <a:t>OEE recovered 5.4 points in six months — still short of target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49808" y="1124712"/>
            <a:ext cx="10744200" cy="0"/>
          </a:xfrm>
          <a:prstGeom prst="line">
            <a:avLst/>
          </a:prstGeom>
          <a:noFill/>
          <a:ln w="10160">
            <a:solidFill>
              <a:srgbClr val="D8DEE8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868680" y="1463040"/>
          <a:ext cx="694944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092440" y="1463040"/>
            <a:ext cx="3154680" cy="4343400"/>
          </a:xfrm>
          <a:prstGeom prst="rect">
            <a:avLst/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66760" y="1874520"/>
            <a:ext cx="2606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</a:rPr>
              <a:t>76.2% latest; the remaining gap is stable and measurable.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366760" y="34564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Target 78%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49808" y="6400800"/>
            <a:ext cx="10744200" cy="0"/>
          </a:xfrm>
          <a:prstGeom prst="line">
            <a:avLst/>
          </a:prstGeom>
          <a:noFill/>
          <a:ln w="6350">
            <a:solidFill>
              <a:srgbClr val="D8DE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" y="6492240"/>
            <a:ext cx="8961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Consultify · Northwind Manufacturing Ltd. · Confidential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10698480" y="6492240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slide 7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749808" y="6199632"/>
            <a:ext cx="8686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Source: Northwind NW-OEE-L3 measurements · Jan–Jun 2026 · dump 11.09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329184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2563EB"/>
                </a:solidFill>
              </a:rPr>
              <a:t>BOARD DECISION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749808" y="5943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B2A41"/>
                </a:solidFill>
              </a:rPr>
              <a:t>Do we fund the shared data foundation ahead of the automation pilot?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49808" y="1124712"/>
            <a:ext cx="10744200" cy="0"/>
          </a:xfrm>
          <a:prstGeom prst="line">
            <a:avLst/>
          </a:prstGeom>
          <a:noFill/>
          <a:ln w="10160">
            <a:solidFill>
              <a:srgbClr val="D8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417320"/>
            <a:ext cx="5029200" cy="2331720"/>
          </a:xfrm>
          <a:prstGeom prst="rect">
            <a:avLst/>
          </a:prstGeom>
          <a:solidFill>
            <a:srgbClr val="DCE6F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4712" y="16642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2563EB"/>
                </a:solidFill>
              </a:rPr>
              <a:t>OPTION A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24712" y="201168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</a:rPr>
              <a:t>Data foundation first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24712" y="2706624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01828"/>
                </a:solidFill>
              </a:rPr>
              <a:t>Sequence MES rollout and a shared data layer ahead of everything else.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" y="2432304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£410k · MES Line 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89120" y="1618488"/>
            <a:ext cx="1188720" cy="256032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RECOMMENDED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6217920" y="1417320"/>
            <a:ext cx="5029200" cy="2331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3952" y="16642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2563EB"/>
                </a:solidFill>
              </a:rPr>
              <a:t>OPTION B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6473952" y="201168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</a:rPr>
              <a:t>Run both in parallel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73952" y="2706624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01828"/>
                </a:solidFill>
              </a:rPr>
              <a:t>Keep the automation pilot on current data and accept higher rework risk.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73952" y="2432304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£930k · MES + Warehouse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68680" y="4069080"/>
            <a:ext cx="10378440" cy="1143000"/>
          </a:xfrm>
          <a:prstGeom prst="rect">
            <a:avLst/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069080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5568" y="431596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2563EB"/>
                </a:solidFill>
              </a:rPr>
              <a:t>RECOMMENDATION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115568" y="4599432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A41"/>
                </a:solidFill>
              </a:rPr>
              <a:t>Approve Option A and hold the automation envelope unchanged.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5358384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80" kern="0" dirty="0">
                <a:solidFill>
                  <a:srgbClr val="667085"/>
                </a:solidFill>
              </a:rPr>
              <a:t>DECISION OWNER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868680" y="555955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01828"/>
                </a:solidFill>
              </a:rPr>
              <a:t>Board — Operations &amp; Capital Committee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328160" y="5358384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80" kern="0" dirty="0">
                <a:solidFill>
                  <a:srgbClr val="667085"/>
                </a:solidFill>
              </a:rPr>
              <a:t>DUE BY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4328160" y="555955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01828"/>
                </a:solidFill>
              </a:rPr>
              <a:t>30 October 2026 (before summer shutdown planning)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87640" y="5358384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80" kern="0" dirty="0">
                <a:solidFill>
                  <a:srgbClr val="667085"/>
                </a:solidFill>
              </a:rPr>
              <a:t>LINKED RAID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7787640" y="555955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01828"/>
                </a:solidFill>
              </a:rPr>
              <a:t>Cutover window is constrained by the summer shutdown date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49808" y="6400800"/>
            <a:ext cx="10744200" cy="0"/>
          </a:xfrm>
          <a:prstGeom prst="line">
            <a:avLst/>
          </a:prstGeom>
          <a:noFill/>
          <a:ln w="6350">
            <a:solidFill>
              <a:srgbClr val="D8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6492240"/>
            <a:ext cx="8961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Consultify · Northwind Manufacturing Ltd. · Confidential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10698480" y="6492240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slide 8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+mn-lt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+mn-lt"/>
        <a:font script="Hebr" typeface="+mn-l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+mn-lt"/>
        <a:font script="Uigh" typeface="Microsoft Uighur"/>
        <a:font script="Geor" typeface="Sylfaen"/>
        <a:font script="Armn" typeface="+mn-lt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Consultify · DBR77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Northwind 2027 — Operational Maturity Assessment</dc:title>
  <dc:subject>Northwind 2027 — Operational Maturity Assessment</dc:subject>
  <dc:creator>Consultify</dc:creator>
  <cp:lastModifiedBy>Consultify</cp:lastModifiedBy>
  <cp:revision>1</cp:revision>
  <dcterms:created xsi:type="dcterms:W3CDTF">2026-09-16T17:45:18Z</dcterms:created>
  <dcterms:modified xsi:type="dcterms:W3CDTF">2026-09-16T17:45:18Z</dcterms:modified>
</cp:coreProperties>
</file>