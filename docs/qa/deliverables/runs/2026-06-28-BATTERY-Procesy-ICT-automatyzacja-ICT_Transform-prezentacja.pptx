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Przychód</c:v>
                </c:pt>
              </c:strCache>
            </c:strRef>
          </c:tx>
          <c:spPr>
            <a:solidFill>
              <a:srgbClr val="0C44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Rok 1 (2024)</c:v>
                  </c:pt>
                  <c:pt idx="1">
                    <c:v>Rok 2 (2025)</c:v>
                  </c:pt>
                  <c:pt idx="2">
                    <c:v>Rok 3 (2026)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680000</c:v>
                </c:pt>
                <c:pt idx="1">
                  <c:v>734592</c:v>
                </c:pt>
                <c:pt idx="2">
                  <c:v>797628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0C44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Rok 1 (2024)</c:v>
                  </c:pt>
                  <c:pt idx="1">
                    <c:v>Rok 2 (2025)</c:v>
                  </c:pt>
                  <c:pt idx="2">
                    <c:v>Rok 3 (2026)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95200</c:v>
                </c:pt>
                <c:pt idx="1">
                  <c:v>196724</c:v>
                </c:pt>
                <c:pt idx="2">
                  <c:v>297193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</c:v>
                </c:pt>
              </c:strCache>
            </c:strRef>
          </c:tx>
          <c:spPr>
            <a:solidFill>
              <a:srgbClr val="0C447C"/>
            </a:solidFill>
            <a:ln w="25400" cap="flat">
              <a:solidFill>
                <a:srgbClr val="0C447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C447C"/>
              </a:solidFill>
              <a:ln w="9525" cap="flat">
                <a:solidFill>
                  <a:srgbClr val="0C447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Rok 1 (2024)</c:v>
                  </c:pt>
                  <c:pt idx="1">
                    <c:v>Rok 2 (2025)</c:v>
                  </c:pt>
                  <c:pt idx="2">
                    <c:v>Rok 3 (2026)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480000</c:v>
                </c:pt>
                <c:pt idx="1">
                  <c:v>494592</c:v>
                </c:pt>
                <c:pt idx="2">
                  <c:v>509628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C44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9144000" cy="2926080"/>
          </a:xfrm>
          <a:prstGeom prst="rect">
            <a:avLst/>
          </a:prstGeom>
          <a:solidFill>
            <a:srgbClr val="0C447C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Transform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Biznesplan inwestorski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Transform  |  2026-06-28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Consultify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45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Podsumowanie Wykonawcze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Transformacja procesów ICT w firmach produkcyjnych poprzez audyt wydajności i wdrożenie automatyzacji AI, co pozwala na…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185166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47088"/>
            <a:ext cx="185166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797 628 EUR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218334"/>
            <a:ext cx="185166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Przychód (ost. rok)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83180" y="1755648"/>
            <a:ext cx="185166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83180" y="1847088"/>
            <a:ext cx="185166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297 193 EUR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83180" y="2218334"/>
            <a:ext cx="185166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(ost. rok)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755648"/>
            <a:ext cx="185166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847088"/>
            <a:ext cx="185166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509 628 EUR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09160" y="2218334"/>
            <a:ext cx="185166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(ost. rok)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35140" y="1755648"/>
            <a:ext cx="185166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5140" y="1847088"/>
            <a:ext cx="185166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1 500 000 EUR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835140" y="2218334"/>
            <a:ext cx="185166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/ runda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734056"/>
            <a:ext cx="8229600" cy="0"/>
          </a:xfrm>
          <a:prstGeom prst="line">
            <a:avLst/>
          </a:prstGeom>
          <a:noFill/>
          <a:ln w="12700">
            <a:solidFill>
              <a:srgbClr val="E2E5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71216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quo jest wolny i kosztowny — to realny ból rynku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Automatyzacja Procesów ICT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Rynek 1 mld EUR (TAM); realnie zdobywalne 30 000 000 EUR (SOM)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59936"/>
            <a:ext cx="8229600" cy="411480"/>
          </a:xfrm>
          <a:prstGeom prst="roundRect">
            <a:avLst>
              <a:gd name="adj" fmla="val 11111"/>
            </a:avLst>
          </a:prstGeom>
          <a:solidFill>
            <a:srgbClr val="00AA55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4059936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Dofinansowanie na rozwój produktu i ekspansję na nowe rynki.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Transform — Biznesplan inwestorski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2/12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Automatyzacja Procesów ICT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77640" cy="3474720"/>
          </a:xfrm>
          <a:prstGeom prst="roundRect">
            <a:avLst>
              <a:gd name="adj" fmla="val 1579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3794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quo jest wolny i kosztowny — to realny ból rynku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3977640" cy="3474720"/>
          </a:xfrm>
          <a:prstGeom prst="roundRect">
            <a:avLst>
              <a:gd name="adj" fmla="val 1579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1430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00600" y="15544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Rozwiązanie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965960"/>
            <a:ext cx="3794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Automatyzacja Procesów ICT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Transform — Biznesplan inwestorski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3/12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Rynek: TAM 1 mld EUR · SOM 30 000 000 EUR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256032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mld EUR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56819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256032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005840"/>
            <a:ext cx="256032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200 000 000 EUR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91840" y="156819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914400"/>
            <a:ext cx="256032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005840"/>
            <a:ext cx="256032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30 000 000 EUR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26480" y="156819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2860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klientów × 200000 EUR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Transform — Biznesplan inwestorski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4/12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Hybryda usługi + SaaS — dwa wzmacniające się strumienie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biznesowy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Hybryda usługi + SaaS — dwa wzmacniające się strumienie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8328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Land-and-expand: usługi otwierają drzwi, SaaS skaluje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Przewaga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Strukturalna przewaga kosztowa = trwały moat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Transform — Biznesplan inwestorski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5/12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Przychód 797 628 EUR, EBITDA 297 193 EUR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4773168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559552" y="914400"/>
            <a:ext cx="312724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Przychód 797 628 EUR, EBITDA 297 193 EUR (marża 37%) w 2026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389120"/>
            <a:ext cx="4773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Model finansowy (driver-based)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Transform — Biznesplan inwestorski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6/12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ARR 509 628 EUR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4773168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559552" y="914400"/>
            <a:ext cx="312724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rośnie do 509 628 EUR w 2026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Transform — Biznesplan inwestorski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7/12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LTV/CAC 8.5 ×, payback 17.65 mies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85166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85166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8.5 ×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568196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CAC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83180" y="914400"/>
            <a:ext cx="185166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83180" y="1005840"/>
            <a:ext cx="185166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17.65 mies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583180" y="1568196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185166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005840"/>
            <a:ext cx="185166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112%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09160" y="1568196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35140" y="914400"/>
            <a:ext cx="185166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5140" y="1005840"/>
            <a:ext cx="185166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46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835140" y="1568196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40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8.5 ×, payback 17.65 mies — ekonomika zdrowa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Transform — Biznesplan inwestorski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8/12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Kluczowe założenia = kluczowe ryzyka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1152144"/>
                <a:gridCol w="1152144"/>
                <a:gridCol w="362102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Wzrost seatów r/r (0.25×)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 0.23–0.28×; źródło: model wewnętrzny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revenue retention (1.12×)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 1.01–1.23×; źródło: Analyzed from industry reports on SaaS retention rates.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brutto roczny (0.08%)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 0.07–0.09%; źródło: model wewnętrzny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Marża brutto (0.85%)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 0.77–0.94%; źródło: model wewnętrzny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 (1200EUR)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 960–1440EUR; źródło: Analysis based on current and projected customer acquisition strategies.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Transform — Biznesplan inwestorski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9/12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Roadmapa do celu finansowego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45720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 1 (2024)
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Przychód: 680 000</a:t>
            </a:r>
            <a:endParaRPr lang="en-US" sz="1000" dirty="0"/>
          </a:p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EBITDA: 95 200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2560320" cy="457200"/>
          </a:xfrm>
          <a:prstGeom prst="roundRect">
            <a:avLst>
              <a:gd name="adj" fmla="val 8000"/>
            </a:avLst>
          </a:prstGeom>
          <a:solidFill>
            <a:srgbClr val="A0A8B8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914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 2 (2025)
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37560" y="146304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Przychód: 734 592</a:t>
            </a:r>
            <a:endParaRPr lang="en-US" sz="1000" dirty="0"/>
          </a:p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EBITDA: 196 724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914400"/>
            <a:ext cx="2560320" cy="457200"/>
          </a:xfrm>
          <a:prstGeom prst="roundRect">
            <a:avLst>
              <a:gd name="adj" fmla="val 8000"/>
            </a:avLst>
          </a:prstGeom>
          <a:solidFill>
            <a:srgbClr val="A0A8B8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914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 3 (2026)
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72200" y="146304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Przychód: 797 628</a:t>
            </a:r>
            <a:endParaRPr lang="en-US" sz="1000" dirty="0"/>
          </a:p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EBITDA: 297 193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Transform — Biznesplan inwestorski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10/12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Dofinansowanie na rozwój produktu i ekspansję na nowe rynki.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005840"/>
            <a:ext cx="7315200" cy="3474720"/>
          </a:xfrm>
          <a:prstGeom prst="roundRect">
            <a:avLst>
              <a:gd name="adj" fmla="val 1579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005840"/>
            <a:ext cx="54864" cy="3474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0" y="1097280"/>
            <a:ext cx="777240" cy="201168"/>
          </a:xfrm>
          <a:prstGeom prst="roundRect">
            <a:avLst>
              <a:gd name="adj" fmla="val 36364"/>
            </a:avLst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0" y="10972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" y="109728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inwestorski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417320"/>
            <a:ext cx="694944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Dofinansowanie na rozwój produktu i ekspansję na nowe rynki.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4023360"/>
            <a:ext cx="3383280" cy="274320"/>
          </a:xfrm>
          <a:prstGeom prst="rect">
            <a:avLst>
              <a:gd name="adj" fmla="val 16667"/>
            </a:avLst>
          </a:prstGeom>
          <a:solidFill>
            <a:srgbClr val="0C447C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023360"/>
            <a:ext cx="3383280" cy="2743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Wycena 1 429 971 EUR–4 785 768 EUR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4023360"/>
            <a:ext cx="3383280" cy="274320"/>
          </a:xfrm>
          <a:prstGeom prst="rect">
            <a:avLst>
              <a:gd name="adj" fmla="val 16667"/>
            </a:avLst>
          </a:prstGeom>
          <a:solidFill>
            <a:srgbClr val="2C5F8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4023360"/>
            <a:ext cx="3383280" cy="2743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1 500 000 EUR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Transform — Biznesplan inwestorski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11/12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Załącznik: obronność założeń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 założenia z wartością bazową, zakresem i źródłem (posortowane wg wpływu na wynik).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Założenie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Wartość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Źródło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Wzrost seatów r/r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0.23–0.28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wewnętrzny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revenue retention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1.01–1.23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Analyzed from industry reports on SaaS retention rates.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brutto roczny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0.07–0.09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wewnętrzny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Marża brutto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0.77–0.94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wewnętrzny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1200EUR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960–1440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based on current and projected customer acquisition strategies.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Transform — Biznesplan inwestorski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12/12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Dziękujemy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Raport wygenerowany przez Consultify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ICT Transform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Biznesplan inwestorski</dc:title>
  <dc:subject>business_plan Report</dc:subject>
  <dc:creator>Consultify</dc:creator>
  <cp:lastModifiedBy>Consultify</cp:lastModifiedBy>
  <cp:revision>1</cp:revision>
  <dcterms:created xsi:type="dcterms:W3CDTF">2026-06-28T05:38:48Z</dcterms:created>
  <dcterms:modified xsi:type="dcterms:W3CDTF">2026-06-28T05:38:48Z</dcterms:modified>
</cp:coreProperties>
</file>