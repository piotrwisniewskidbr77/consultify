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800000</c:v>
                </c:pt>
                <c:pt idx="1">
                  <c:v>878240</c:v>
                </c:pt>
                <c:pt idx="2">
                  <c:v>975034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80000</c:v>
                </c:pt>
                <c:pt idx="1">
                  <c:v>210778</c:v>
                </c:pt>
                <c:pt idx="2">
                  <c:v>343212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0C447C"/>
            </a:solidFill>
            <a:ln w="25400" cap="flat">
              <a:solidFill>
                <a:srgbClr val="0C44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C447C"/>
              </a:solidFill>
              <a:ln w="9525" cap="flat">
                <a:solidFill>
                  <a:srgbClr val="0C44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600000</c:v>
                </c:pt>
                <c:pt idx="1">
                  <c:v>618240</c:v>
                </c:pt>
                <c:pt idx="2">
                  <c:v>637034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C447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Biznesplan inwestorski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  |  2026-06-28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Podsumowanie Wykonawcze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Inwestycja w innowacyjną platformę AI z ogromnym potencjałem wzrostu, z uwzględnieniem realistycznych założeń oraz optymalnych…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975 034 EUR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 (ost. rok)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318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318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343 212 EUR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8318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(ost. rok)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637 034 EUR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0916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(ost. rok)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3514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514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3 500 000 EUR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3514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/ runda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8229600" cy="0"/>
          </a:xfrm>
          <a:prstGeom prst="line">
            <a:avLst/>
          </a:prstGeom>
          <a:noFill/>
          <a:ln w="12700">
            <a:solidFill>
              <a:srgbClr val="E2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71216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jest wolny i kosztowny — to realny ból rynku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AI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Rynek 50 000 000 EUR (TAM); realnie zdobywalne 1 800 000 EUR (SOM)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59936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00AA5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0599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mln EUR finansowania na wdrożenie i rozwój platformy.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 — Biznesplan inwestorski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Platforma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jest wolny i kosztowny — to realny ból rynku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7764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1430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00600" y="1554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96596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 — Biznesplan inwestorski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3/12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Rynek: TAM 50 000 000 EUR · SOM 1 800 000 EUR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50 000 000 EUR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10 000 000 EUR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1 800 000 EUR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klientów × 1200 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 — Biznesplan inwestorski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4/12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Hybryda usługi + SaaS — dwa wzmacniające się strumienie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biznesowy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Hybryda usługi + SaaS — dwa wzmacniające się strumienie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Land-and-expand: usługi otwierają drzwi, SaaS skaluje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Przewaga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Strukturalna przewaga kosztowa = trwały moat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 — Biznesplan inwestorski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5/12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Przychód 975 034 EUR, EBITDA 343 212 EUR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773168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 975 034 EUR, EBITDA 343 212 EUR (marża 35%) w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4773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Model finansowy (driver-based)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 — Biznesplan inwestorski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6/12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ARR 637 034 EUR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773168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rośnie do 637 034 EUR w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 — Biznesplan inwestorski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7/12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LTV/CAC 8.33 ×, payback 18 mies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8.33 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318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318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 mies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8318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0916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3514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514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3514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8.33 ×, payback 18 mies — ekonomika zdrowa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 — Biznesplan inwestorski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8/12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Kluczowe założenia = kluczowe ryzyka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1152144"/>
                <a:gridCol w="1152144"/>
                <a:gridCol w="362102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Wzrost seatów r/r (0.45×)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0.41–0.5×;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 (1.12×)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1.01–1.23×; źródło: Analiza wzrostu dla platform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brutto roczny (0.08%)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0.07–0.09%;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Marża brutto (0.8%)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0.72–0.88%;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(1440EUR)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1152–1728EUR; źródło: Koszty marketingowe branży technologicznej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 — Biznesplan inwestorski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9/12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Roadmapa do celu finansowego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1 (2024)
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800 000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80 000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2 (2025)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878 240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210 778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3 (2026)
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7220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975 034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343 212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 — Biznesplan inwestorski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10/12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3.5 mln EUR finansowania na wdrożenie i rozwój platformy.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731520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05840"/>
            <a:ext cx="54864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1097280"/>
            <a:ext cx="777240" cy="201168"/>
          </a:xfrm>
          <a:prstGeom prst="roundRect">
            <a:avLst>
              <a:gd name="adj" fmla="val 36364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0972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inwestorski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69494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mln EUR finansowania na wdrożenie i rozwój platformy.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023360"/>
            <a:ext cx="3383280" cy="274320"/>
          </a:xfrm>
          <a:prstGeom prst="rect">
            <a:avLst>
              <a:gd name="adj" fmla="val 16667"/>
            </a:avLst>
          </a:prstGeom>
          <a:solidFill>
            <a:srgbClr val="0C447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023360"/>
            <a:ext cx="3383280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Wycena 1 615 050 EUR–5 850 204 EUR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4023360"/>
            <a:ext cx="3383280" cy="274320"/>
          </a:xfrm>
          <a:prstGeom prst="rect">
            <a:avLst>
              <a:gd name="adj" fmla="val 16667"/>
            </a:avLst>
          </a:prstGeom>
          <a:solidFill>
            <a:srgbClr val="2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4023360"/>
            <a:ext cx="3383280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3 500 000 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 — Biznesplan inwestorski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11/12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Załącznik: obronność założeń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założenia z wartością bazową, zakresem i źródłem (posortowane wg wpływu na wynik).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Założenie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Źródło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Wzrost seatów r/r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0.41–0.5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1.01–1.23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Analiza wzrostu dla platform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brutto roczny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0.07–0.09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Marża brutto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0.72–0.88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1440EUR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1152–1728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Koszty marketingowe branży technologicznej 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Solutions — Biznesplan inwestorski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Dziękujemy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wygenerowany przez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AI Platform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Biznesplan inwestorski</dc:title>
  <dc:subject>business_plan Report</dc:subject>
  <dc:creator>Consultify</dc:creator>
  <cp:lastModifiedBy>Consultify</cp:lastModifiedBy>
  <cp:revision>1</cp:revision>
  <dcterms:created xsi:type="dcterms:W3CDTF">2026-06-28T05:40:16Z</dcterms:created>
  <dcterms:modified xsi:type="dcterms:W3CDTF">2026-06-28T05:40:16Z</dcterms:modified>
</cp:coreProperties>
</file>