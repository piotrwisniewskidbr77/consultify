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 (M PLN)</c:v>
                </c:pt>
              </c:strCache>
            </c:strRef>
          </c:tx>
          <c:spPr>
            <a:solidFill>
              <a:srgbClr val="0A2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(M PLN)</c:v>
                </c:pt>
              </c:strCache>
            </c:strRef>
          </c:tx>
          <c:spPr>
            <a:solidFill>
              <a:srgbClr val="0A2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A2A4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READINESS 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DBR77 w organizację AI-First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00400"/>
            <a:ext cx="1554480" cy="0"/>
          </a:xfrm>
          <a:prstGeom prst="line">
            <a:avLst/>
          </a:prstGeom>
          <a:noFill/>
          <a:ln w="38100">
            <a:solidFill>
              <a:srgbClr val="0E9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6499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dla zarządu: od diagnozy do mierzalnej przewagi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   ·   28 czerwca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548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O N F I D E N T I A 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ruchy uruchamiają 3.2M PLN rocznych korzyści z 18-mies. paybackiem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Gotowość AI 41/100 — luka w danych i kompetencjach blokuje skalowanie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41/100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00046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Gotowość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828800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18mies.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200046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28800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3.2MPLN/rok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2200046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Korzyść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2608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rozproszone w 7 systemach bez wspólnego modelu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właściciela AI na poziomie zarządu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Dwa procesy gotowe do automatyzacji już dziś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3367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0E9F6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23367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Uruchom 3 inicjatywy pilotażowe w Q3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Dojrzałość najwyższa w infrastrukturze, najniższa w danych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851660" cy="207203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9256"/>
            <a:ext cx="1668780" cy="103601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68/100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468423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Infrastruktura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15895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3180" y="1188720"/>
            <a:ext cx="1851660" cy="207203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4620" y="1359256"/>
            <a:ext cx="1668780" cy="103601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32/100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74620" y="2468423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4620" y="2815895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1851660" cy="207203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59256"/>
            <a:ext cx="1668780" cy="103601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38/100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00600" y="2468423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Kompetencje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815895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35140" y="1188720"/>
            <a:ext cx="1851660" cy="207203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6580" y="1359256"/>
            <a:ext cx="1668780" cy="103601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45/100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26580" y="2468423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26580" y="2815895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89350"/>
            <a:ext cx="8229600" cy="1082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domknięcia warstwy danych pozostałe inwestycje nie zwrócą się w zakładanym tempie.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3/12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filary transformacji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jako fundament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Wspólny model danych z 7 systemów to warunek każdego kolejnego kroku AI.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Właściciel i governance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potrzebuje właściciela na poziomie zarządu i jasnych zasad decyzyjnych.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Szybkie zwycięstwa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Dwa procesy gotowe do automatyzacji dają dowód wartości w Q4.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4/12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Przychód rośnie, ale marża pod presją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308092" cy="3456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53328" y="914400"/>
            <a:ext cx="2633472" cy="3657600"/>
          </a:xfrm>
          <a:prstGeom prst="roundRect">
            <a:avLst>
              <a:gd name="adj" fmla="val 208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53328" y="914400"/>
            <a:ext cx="54864" cy="365760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7" name="Text 4"/>
          <p:cNvSpPr/>
          <p:nvPr/>
        </p:nvSpPr>
        <p:spPr>
          <a:xfrm>
            <a:off x="6236208" y="1051560"/>
            <a:ext cx="2313432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Skok przychodu 2025→2026 wymaga domknięcia warstwy danych, inaczej marża dalej spada.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370832"/>
            <a:ext cx="53080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Model finansowy DBR77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5/12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 obecny vs cel 2027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3035808"/>
          </a:xfrm>
          <a:prstGeom prst="roundRect">
            <a:avLst>
              <a:gd name="adj" fmla="val 150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Dziś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1188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w 7 silosach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właściciela AI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Procesy ręczne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Decyzje na przeczucie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3977640" cy="3035808"/>
          </a:xfrm>
          <a:prstGeom prst="roundRect">
            <a:avLst>
              <a:gd name="adj" fmla="val 150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144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35699B"/>
          </a:solidFill>
          <a:ln w="12700">
            <a:solidFill>
              <a:srgbClr val="3569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14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 2027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Wspólny model danych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w zarządzie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2+ procesy zautomatyzowane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Decyzje na danych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Przejście wymaga 4 kwartałów i 3 inicjatyw pilotażowych.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6/12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Dlaczego AI nie skaluje się dziś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31520"/>
          </a:xfrm>
          <a:prstGeom prst="roundRect">
            <a:avLst>
              <a:gd name="adj" fmla="val 625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Inicjatywy AI utykają na etapie pilotażu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1645920"/>
              </a:tblGrid>
              <a:tr h="6743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Cause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Severity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Rozproszone dane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Brak wiarygodnego wejścia dla modeli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Brak właściciela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Decyzje grzęzną między działami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Luka kompetencji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Zespół nie utrzymuje rozwiązań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7/12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Gdzie zacząć: wysoki wpływ, niski wysiłek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460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Wpływ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7620" y="4389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Wysiłek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914400"/>
            <a:ext cx="3918204" cy="1677924"/>
          </a:xfrm>
          <a:prstGeom prst="roundRect">
            <a:avLst>
              <a:gd name="adj" fmla="val 4360"/>
            </a:avLst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969264"/>
            <a:ext cx="37353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Szybkie zwycięstwa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86968" y="1225296"/>
            <a:ext cx="3698748" cy="237744"/>
          </a:xfrm>
          <a:prstGeom prst="roundRect">
            <a:avLst>
              <a:gd name="adj" fmla="val 30769"/>
            </a:avLst>
          </a:prstGeom>
          <a:solidFill>
            <a:srgbClr val="0A2A4E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1225296"/>
            <a:ext cx="36987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AUTOMATYZACJA OFERTOWANIA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86968" y="2263140"/>
            <a:ext cx="3698748" cy="237744"/>
          </a:xfrm>
          <a:prstGeom prst="roundRect">
            <a:avLst>
              <a:gd name="adj" fmla="val 30769"/>
            </a:avLst>
          </a:prstGeom>
          <a:solidFill>
            <a:srgbClr val="0A2A4E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2263140"/>
            <a:ext cx="36987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ASYSTENT DOKUMENTÓW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68596" y="914400"/>
            <a:ext cx="3918204" cy="1677924"/>
          </a:xfrm>
          <a:prstGeom prst="roundRect">
            <a:avLst>
              <a:gd name="adj" fmla="val 4360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4860036" y="969264"/>
            <a:ext cx="37353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Duże zakłady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78324" y="1744218"/>
            <a:ext cx="3698748" cy="237744"/>
          </a:xfrm>
          <a:prstGeom prst="roundRect">
            <a:avLst>
              <a:gd name="adj" fmla="val 30769"/>
            </a:avLst>
          </a:prstGeom>
          <a:solidFill>
            <a:srgbClr val="0A2A4E"/>
          </a:solidFill>
          <a:ln/>
        </p:spPr>
      </p:sp>
      <p:sp>
        <p:nvSpPr>
          <p:cNvPr id="15" name="Text 13"/>
          <p:cNvSpPr/>
          <p:nvPr/>
        </p:nvSpPr>
        <p:spPr>
          <a:xfrm>
            <a:off x="4878324" y="1744218"/>
            <a:ext cx="36987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DANYCH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77240" y="2665476"/>
            <a:ext cx="3918204" cy="1677924"/>
          </a:xfrm>
          <a:prstGeom prst="roundRect">
            <a:avLst>
              <a:gd name="adj" fmla="val 4360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720340"/>
            <a:ext cx="37353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Wypełniacze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" y="3495294"/>
            <a:ext cx="3698748" cy="237744"/>
          </a:xfrm>
          <a:prstGeom prst="roundRect">
            <a:avLst>
              <a:gd name="adj" fmla="val 30769"/>
            </a:avLst>
          </a:prstGeom>
          <a:solidFill>
            <a:srgbClr val="0A2A4E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" y="3495294"/>
            <a:ext cx="36987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 FAQ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68596" y="2665476"/>
            <a:ext cx="3918204" cy="1677924"/>
          </a:xfrm>
          <a:prstGeom prst="roundRect">
            <a:avLst>
              <a:gd name="adj" fmla="val 4360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4860036" y="2720340"/>
            <a:ext cx="37353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Przemyśleć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78324" y="3495294"/>
            <a:ext cx="3698748" cy="237744"/>
          </a:xfrm>
          <a:prstGeom prst="roundRect">
            <a:avLst>
              <a:gd name="adj" fmla="val 30769"/>
            </a:avLst>
          </a:prstGeom>
          <a:solidFill>
            <a:srgbClr val="0A2A4E"/>
          </a:solidFill>
          <a:ln/>
        </p:spPr>
      </p:sp>
      <p:sp>
        <p:nvSpPr>
          <p:cNvPr id="23" name="Text 21"/>
          <p:cNvSpPr/>
          <p:nvPr/>
        </p:nvSpPr>
        <p:spPr>
          <a:xfrm>
            <a:off x="4878324" y="3495294"/>
            <a:ext cx="36987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WŁASNY LLM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8/12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pilotaży do skali w 4 kwartały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657600"/>
          </a:xfrm>
          <a:prstGeom prst="roundRect">
            <a:avLst>
              <a:gd name="adj" fmla="val 178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1527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C2C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14400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— Fundament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82496"/>
            <a:ext cx="219456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Powołanie właściciela AI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Konsolidacja danych z 7 systemów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Audyt gotowości procesów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187952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8795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lip-wrz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560320" cy="3657600"/>
          </a:xfrm>
          <a:prstGeom prst="roundRect">
            <a:avLst>
              <a:gd name="adj" fmla="val 178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27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C7D2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3291840" y="91440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204A75"/>
          </a:solidFill>
          <a:ln w="12700">
            <a:solidFill>
              <a:srgbClr val="204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914400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— Piloty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1682496"/>
            <a:ext cx="219456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procesy w automatyzacji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Pierwsze KPI biznesowe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Szkolenia zespołów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4187952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04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418795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4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paź-gru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560320" cy="3657600"/>
          </a:xfrm>
          <a:prstGeom prst="roundRect">
            <a:avLst>
              <a:gd name="adj" fmla="val 178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527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CC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54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35699B"/>
          </a:solidFill>
          <a:ln w="12700">
            <a:solidFill>
              <a:srgbClr val="3569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914400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— Skala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1682496"/>
            <a:ext cx="219456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Roll-out na organizację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operacyjny AI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Centrum kompetencji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4187952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569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18795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69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9/12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ryzyka wymagają mitygacji od startu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987552"/>
                <a:gridCol w="987552"/>
                <a:gridCol w="2880360"/>
                <a:gridCol w="1316736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Likelihood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Mitigation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Jakość danych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Audyt i czyszczenie przed pilotami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CDO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Opór organizacji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Komunikacja i szybkie zwycięstwa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Brak kompetencji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Szkolenia + partner zewnętrzny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10/12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inicjatywy na start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2057400"/>
                <a:gridCol w="164592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Recommendation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 danych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Wspólny model z 7 systemów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Wysoki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CRITICAL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Automatyzacja ofertowania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Pilotaż w sprzedaży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Średni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Asystent dokumentów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w back-office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Średni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11/12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Decyzja zarządu w 2 tygodnie odblokowuje Q3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Deadline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Zatwierdzenie budżetu pilotaży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Zarząd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Powołanie właściciela AI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31.07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2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Start audytu danych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CDO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15.08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51376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151376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Każdy kwartał zwłoki to ~0.8M PLN utraconych korzyści.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12/12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PODSUMOWANIE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Dziękujemy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00400"/>
            <a:ext cx="1554480" cy="0"/>
          </a:xfrm>
          <a:prstGeom prst="line">
            <a:avLst/>
          </a:prstGeom>
          <a:noFill/>
          <a:ln w="38100">
            <a:solidFill>
              <a:srgbClr val="0E9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6499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 wygenerowany przez Consultify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28.06.2026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41696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POUFNE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</dc:title>
  <dc:subject>Report</dc:subject>
  <dc:creator>Consultify</dc:creator>
  <cp:lastModifiedBy>Consultify</cp:lastModifiedBy>
  <cp:revision>1</cp:revision>
  <dcterms:created xsi:type="dcterms:W3CDTF">2026-06-28T20:26:26Z</dcterms:created>
  <dcterms:modified xsi:type="dcterms:W3CDTF">2026-06-28T20:26:26Z</dcterms:modified>
</cp:coreProperties>
</file>