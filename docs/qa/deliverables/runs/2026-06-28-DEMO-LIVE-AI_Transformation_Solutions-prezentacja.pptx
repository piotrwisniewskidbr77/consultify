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charts/chart2.xml" ContentType="application/vnd.openxmlformats-officedocument.drawingml.chart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charts/chart3.xml" ContentType="application/vnd.openxmlformats-officedocument.drawingml.chart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</p:sldIdLst>
  <p:notesMasterIdLst>
    <p:notesMasterId r:id="rId15"/>
  </p:notesMasterIdLst>
  <p:sldSz cx="9144000" cy="5143500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notesMaster" Target="notesMasters/notesMaster1.xml"/><Relationship Id="rId16" Type="http://schemas.openxmlformats.org/officeDocument/2006/relationships/presProps" Target="presProps.xml"/><Relationship Id="rId17" Type="http://schemas.openxmlformats.org/officeDocument/2006/relationships/viewProps" Target="viewProps.xml"/><Relationship Id="rId18" Type="http://schemas.openxmlformats.org/officeDocument/2006/relationships/theme" Target="theme/theme1.xml"/><Relationship Id="rId19" Type="http://schemas.openxmlformats.org/officeDocument/2006/relationships/tableStyles" Target="tableStyles.xml"/></Relationships>
</file>

<file path=ppt/charts/_rels/chart2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2.xlsx"/></Relationships>
</file>

<file path=ppt/charts/_rels/chart3.xml.rels><?xml version="1.0" encoding="UTF-8" standalone="yes"?><Relationships xmlns="http://schemas.openxmlformats.org/package/2006/relationships"><Relationship Id="rId1" Type="http://schemas.openxmlformats.org/officeDocument/2006/relationships/package" Target="../embeddings/Microsoft_Excel_Worksheet3.xlsx"/></Relationships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Przychód</c:v>
                </c:pt>
              </c:strCache>
            </c:strRef>
          </c:tx>
          <c:spPr>
            <a:solidFill>
              <a:srgbClr val="0C447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Rok 1 (2023)</c:v>
                  </c:pt>
                  <c:pt idx="1">
                    <c:v>Rok 2 (2024)</c:v>
                  </c:pt>
                  <c:pt idx="2">
                    <c:v>Rok 3 (2025)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230000</c:v>
                </c:pt>
                <c:pt idx="1">
                  <c:v>228300</c:v>
                </c:pt>
                <c:pt idx="2">
                  <c:v>229361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EBITDA</c:v>
                </c:pt>
              </c:strCache>
            </c:strRef>
          </c:tx>
          <c:spPr>
            <a:solidFill>
              <a:srgbClr val="0C447C"/>
            </a:solidFill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cat>
            <c:multiLvlStrRef>
              <c:f>Sheet1!$A$2:$A$4</c:f>
              <c:multiLvlStrCache>
                <c:ptCount val="3"/>
                <c:lvl>
                  <c:pt idx="0">
                    <c:v>Rok 1 (2023)</c:v>
                  </c:pt>
                  <c:pt idx="1">
                    <c:v>Rok 2 (2024)</c:v>
                  </c:pt>
                  <c:pt idx="2">
                    <c:v>Rok 3 (2025)</c:v>
                  </c:pt>
                </c:lvl>
              </c:multiLvlStrCache>
            </c:multiLvlStrRef>
          </c:cat>
          <c:val>
            <c:numRef>
              <c:f>Sheet1!$C$2:$C$4</c:f>
              <c:numCache>
                <c:formatCode>General</c:formatCode>
                <c:ptCount val="3"/>
                <c:pt idx="0">
                  <c:v>46000</c:v>
                </c:pt>
                <c:pt idx="1">
                  <c:v>75339</c:v>
                </c:pt>
                <c:pt idx="2">
                  <c:v>99543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gapWidth val="150"/>
        <c:overlap val="0"/>
        <c:axId val="2094734554"/>
        <c:axId val="2094734552"/>
        <c:axId val="2094734556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legend>
      <c:legendPos val="b"/>
      <c:overlay val="0"/>
    </c:legend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1"/>
  <c:chart>
    <c:autoTitleDeleted val="1"/>
    <c:plotArea>
      <c:layout/>
      <c:lineChart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ARR</c:v>
                </c:pt>
              </c:strCache>
            </c:strRef>
          </c:tx>
          <c:spPr>
            <a:solidFill>
              <a:srgbClr val="0C447C"/>
            </a:solidFill>
            <a:ln w="25400" cap="flat">
              <a:solidFill>
                <a:srgbClr val="0C447C"/>
              </a:solidFill>
              <a:prstDash val="solid"/>
              <a:round/>
            </a:ln>
            <a:effectLst/>
          </c:spPr>
          <c:invertIfNegative val="0"/>
          <c:dLbls>
            <c:numFmt formatCode="#,##0" sourceLinked="0"/>
            <c:txPr>
              <a:bodyPr/>
              <a:lstStyle/>
              <a:p>
                <a:pPr>
                  <a:defRPr b="0" i="0" strike="noStrike" sz="1200" u="none">
                    <a:solidFill>
                      <a:srgbClr val="000000"/>
                    </a:solidFill>
                    <a:latin typeface="Arial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</c:dLbls>
          <c:marker>
            <c:symbol val="circle"/>
            <c:size val="6"/>
            <c:spPr>
              <a:solidFill>
                <a:srgbClr val="0C447C"/>
              </a:solidFill>
              <a:ln w="9525" cap="flat">
                <a:solidFill>
                  <a:srgbClr val="0C447C"/>
                </a:solidFill>
                <a:prstDash val="solid"/>
                <a:round/>
              </a:ln>
              <a:effectLst/>
            </c:spPr>
          </c:marker>
          <c:cat>
            <c:multiLvlStrRef>
              <c:f>Sheet1!$A$2:$A$4</c:f>
              <c:multiLvlStrCache>
                <c:ptCount val="3"/>
                <c:lvl>
                  <c:pt idx="0">
                    <c:v>Rok 1 (2023)</c:v>
                  </c:pt>
                  <c:pt idx="1">
                    <c:v>Rok 2 (2024)</c:v>
                  </c:pt>
                  <c:pt idx="2">
                    <c:v>Rok 3 (2025)</c:v>
                  </c:pt>
                </c:lvl>
              </c:multiLvlStrCache>
            </c:multiLvlStrRef>
          </c:cat>
          <c:val>
            <c:numRef>
              <c:f>Sheet1!$B$2:$B$4</c:f>
              <c:numCache>
                <c:formatCode>General</c:formatCode>
                <c:ptCount val="3"/>
                <c:pt idx="0">
                  <c:v>180000</c:v>
                </c:pt>
                <c:pt idx="1">
                  <c:v>168300</c:v>
                </c:pt>
                <c:pt idx="2">
                  <c:v>157361</c:v>
                </c:pt>
              </c:numCache>
            </c:numRef>
          </c:val>
          <c:smooth val="0"/>
        </c:ser>
        <c:dLbls>
          <c:numFmt formatCode="#,##0" sourceLinked="0"/>
          <c:txPr>
            <a:bodyPr/>
            <a:lstStyle/>
            <a:p>
              <a:pPr>
                <a:defRPr b="0" i="0" strike="noStrike" sz="1200" u="none">
                  <a:solidFill>
                    <a:srgbClr val="000000"/>
                  </a:solidFill>
                  <a:latin typeface="Arial"/>
                </a:defRPr>
              </a:pPr>
            </a:p>
          </c:txPr>
          <c:showLegendKey val="0"/>
          <c:showVal val="1"/>
          <c:showCatName val="0"/>
          <c:showSerName val="0"/>
          <c:showPercent val="0"/>
          <c:showBubbleSize val="0"/>
          <c:showLeaderLines val="0"/>
        </c:dLbls>
        <c:marker val="1"/>
        <c:axId val="2094734554"/>
        <c:axId val="2094734552"/>
        <c:axId val="2094734556"/>
      </c:line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12700" cap="flat">
              <a:solidFill>
                <a:srgbClr val="888888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000000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</c:chart>
  <c:spPr>
    <a:noFill/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1000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VER">
    <p:bg>
      <p:bgPr>
        <a:solidFill>
          <a:srgbClr val="0C447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BLANK"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SECTION_DIVIDER">
    <p:bg>
      <p:bgPr>
        <a:solidFill>
          <a:srgbClr val="F7F8F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1097280"/>
            <a:ext cx="9144000" cy="2926080"/>
          </a:xfrm>
          <a:prstGeom prst="rect">
            <a:avLst/>
          </a:prstGeom>
          <a:solidFill>
            <a:srgbClr val="0C447C"/>
          </a:solidFill>
          <a:ln/>
        </p:spPr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2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chart" Target="/ppt/charts/chart3.xml"/><Relationship Id="rId2" Type="http://schemas.openxmlformats.org/officeDocument/2006/relationships/slideLayout" Target="../slideLayouts/slideLayout3.xml"/><Relationship Id="rId3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731520" y="1645920"/>
            <a:ext cx="768096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Transformation Solutions</a:t>
            </a:r>
            <a:endParaRPr lang="en-US" sz="4000" dirty="0"/>
          </a:p>
        </p:txBody>
      </p:sp>
      <p:sp>
        <p:nvSpPr>
          <p:cNvPr id="3" name="Text 1"/>
          <p:cNvSpPr/>
          <p:nvPr/>
        </p:nvSpPr>
        <p:spPr>
          <a:xfrm>
            <a:off x="731520" y="2926080"/>
            <a:ext cx="7680960" cy="45720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Biznesplan inwestorski</a:t>
            </a:r>
            <a:endParaRPr lang="en-US" sz="1800" dirty="0"/>
          </a:p>
        </p:txBody>
      </p:sp>
      <p:sp>
        <p:nvSpPr>
          <p:cNvPr id="4" name="Text 2"/>
          <p:cNvSpPr/>
          <p:nvPr/>
        </p:nvSpPr>
        <p:spPr>
          <a:xfrm>
            <a:off x="731520" y="3657600"/>
            <a:ext cx="76809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4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Transformation Solutions  |  2026-06-28</a:t>
            </a:r>
            <a:endParaRPr lang="en-US" sz="1400" dirty="0"/>
          </a:p>
        </p:txBody>
      </p:sp>
      <p:sp>
        <p:nvSpPr>
          <p:cNvPr id="5" name="Text 3"/>
          <p:cNvSpPr/>
          <p:nvPr/>
        </p:nvSpPr>
        <p:spPr>
          <a:xfrm>
            <a:off x="731520" y="4389120"/>
            <a:ext cx="768096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Consultify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7132320" y="45720"/>
            <a:ext cx="1645920" cy="2286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700" b="1" dirty="0">
                <a:solidFill>
                  <a:srgbClr val="EF4444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7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Podsumowanie Wykonawcze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658368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2000" b="1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Wprowadzenie technologii AI do średnich firm produkcyjnych znacząco podniesie efektywność operacyjną oraz pozwoli na lepsze…</a:t>
            </a:r>
            <a:endParaRPr lang="en-US" sz="2000" dirty="0"/>
          </a:p>
        </p:txBody>
      </p:sp>
      <p:sp>
        <p:nvSpPr>
          <p:cNvPr id="5" name="Shape 3"/>
          <p:cNvSpPr/>
          <p:nvPr/>
        </p:nvSpPr>
        <p:spPr>
          <a:xfrm>
            <a:off x="457200" y="1755648"/>
            <a:ext cx="1851660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457200" y="1847088"/>
            <a:ext cx="1851660" cy="37856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229 361 EUR</a:t>
            </a:r>
            <a:endParaRPr lang="en-US" sz="3600" dirty="0"/>
          </a:p>
        </p:txBody>
      </p:sp>
      <p:sp>
        <p:nvSpPr>
          <p:cNvPr id="7" name="Text 5"/>
          <p:cNvSpPr/>
          <p:nvPr/>
        </p:nvSpPr>
        <p:spPr>
          <a:xfrm>
            <a:off x="457200" y="2218334"/>
            <a:ext cx="1851660" cy="168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Przychód (ost. rok)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2583180" y="1755648"/>
            <a:ext cx="1851660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583180" y="1847088"/>
            <a:ext cx="1851660" cy="37856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99 543 EUR</a:t>
            </a:r>
            <a:endParaRPr lang="en-US" sz="3600" dirty="0"/>
          </a:p>
        </p:txBody>
      </p:sp>
      <p:sp>
        <p:nvSpPr>
          <p:cNvPr id="10" name="Text 8"/>
          <p:cNvSpPr/>
          <p:nvPr/>
        </p:nvSpPr>
        <p:spPr>
          <a:xfrm>
            <a:off x="2583180" y="2218334"/>
            <a:ext cx="1851660" cy="168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 (ost. rok)</a:t>
            </a:r>
            <a:endParaRPr lang="en-US" sz="1100" dirty="0"/>
          </a:p>
        </p:txBody>
      </p:sp>
      <p:sp>
        <p:nvSpPr>
          <p:cNvPr id="11" name="Shape 9"/>
          <p:cNvSpPr/>
          <p:nvPr/>
        </p:nvSpPr>
        <p:spPr>
          <a:xfrm>
            <a:off x="4709160" y="1755648"/>
            <a:ext cx="1851660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12" name="Text 10"/>
          <p:cNvSpPr/>
          <p:nvPr/>
        </p:nvSpPr>
        <p:spPr>
          <a:xfrm>
            <a:off x="4709160" y="1847088"/>
            <a:ext cx="1851660" cy="37856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157 361 EUR</a:t>
            </a:r>
            <a:endParaRPr lang="en-US" sz="3600" dirty="0"/>
          </a:p>
        </p:txBody>
      </p:sp>
      <p:sp>
        <p:nvSpPr>
          <p:cNvPr id="13" name="Text 11"/>
          <p:cNvSpPr/>
          <p:nvPr/>
        </p:nvSpPr>
        <p:spPr>
          <a:xfrm>
            <a:off x="4709160" y="2218334"/>
            <a:ext cx="1851660" cy="168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(ost. rok)</a:t>
            </a:r>
            <a:endParaRPr lang="en-US" sz="1100" dirty="0"/>
          </a:p>
        </p:txBody>
      </p:sp>
      <p:sp>
        <p:nvSpPr>
          <p:cNvPr id="14" name="Shape 12"/>
          <p:cNvSpPr/>
          <p:nvPr/>
        </p:nvSpPr>
        <p:spPr>
          <a:xfrm>
            <a:off x="6835140" y="1755648"/>
            <a:ext cx="1851660" cy="841248"/>
          </a:xfrm>
          <a:prstGeom prst="roundRect">
            <a:avLst>
              <a:gd name="adj" fmla="val 6522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6835140" y="1847088"/>
            <a:ext cx="1851660" cy="378562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500 000 EUR</a:t>
            </a:r>
            <a:endParaRPr lang="en-US" sz="3600" dirty="0"/>
          </a:p>
        </p:txBody>
      </p:sp>
      <p:sp>
        <p:nvSpPr>
          <p:cNvPr id="16" name="Text 14"/>
          <p:cNvSpPr/>
          <p:nvPr/>
        </p:nvSpPr>
        <p:spPr>
          <a:xfrm>
            <a:off x="6835140" y="2218334"/>
            <a:ext cx="1851660" cy="16825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/ runda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57200" y="2734056"/>
            <a:ext cx="8229600" cy="0"/>
          </a:xfrm>
          <a:prstGeom prst="line">
            <a:avLst/>
          </a:prstGeom>
          <a:noFill/>
          <a:ln w="12700">
            <a:solidFill>
              <a:srgbClr val="E2E5EB"/>
            </a:solidFill>
            <a:prstDash val="solid"/>
          </a:ln>
        </p:spPr>
      </p:sp>
      <p:sp>
        <p:nvSpPr>
          <p:cNvPr id="18" name="Text 16"/>
          <p:cNvSpPr/>
          <p:nvPr/>
        </p:nvSpPr>
        <p:spPr>
          <a:xfrm>
            <a:off x="457200" y="2871216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quo jest wolny i kosztowny — to realny ból rynku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Rozwiązania AI dla średnich firm produkcyjnych</a:t>
            </a:r>
            <a:endParaRPr lang="en-US" sz="1300" dirty="0"/>
          </a:p>
          <a:p>
            <a:pPr>
              <a:spcAft>
                <a:spcPts val="800"/>
              </a:spcAft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Rynek 50 000 000 EUR (TAM); realnie zdobywalne 3 000 000 EUR (SOM)</a:t>
            </a:r>
            <a:endParaRPr lang="en-US" sz="1300" dirty="0"/>
          </a:p>
        </p:txBody>
      </p:sp>
      <p:sp>
        <p:nvSpPr>
          <p:cNvPr id="19" name="Shape 17"/>
          <p:cNvSpPr/>
          <p:nvPr/>
        </p:nvSpPr>
        <p:spPr>
          <a:xfrm>
            <a:off x="457200" y="4059936"/>
            <a:ext cx="8229600" cy="411480"/>
          </a:xfrm>
          <a:prstGeom prst="roundRect">
            <a:avLst>
              <a:gd name="adj" fmla="val 11111"/>
            </a:avLst>
          </a:prstGeom>
          <a:solidFill>
            <a:srgbClr val="00AA55"/>
          </a:solidFill>
          <a:ln/>
        </p:spPr>
      </p:sp>
      <p:sp>
        <p:nvSpPr>
          <p:cNvPr id="20" name="Text 18"/>
          <p:cNvSpPr/>
          <p:nvPr/>
        </p:nvSpPr>
        <p:spPr>
          <a:xfrm>
            <a:off x="594360" y="4059936"/>
            <a:ext cx="7955280" cy="4114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l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Poszukujemy finansowania na pełną transformację AI w przeciągu 12 miesięcy.</a:t>
            </a:r>
            <a:endParaRPr lang="en-US" sz="1300" dirty="0"/>
          </a:p>
        </p:txBody>
      </p:sp>
      <p:sp>
        <p:nvSpPr>
          <p:cNvPr id="21" name="Text 19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Transformation Solutions — Biznesplan inwestorski</a:t>
            </a:r>
            <a:endParaRPr lang="en-US" sz="900" dirty="0"/>
          </a:p>
        </p:txBody>
      </p:sp>
      <p:sp>
        <p:nvSpPr>
          <p:cNvPr id="22" name="Text 20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Consultify · 2/12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Rozwiązania AI dla średnich firm produkcyjnych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3977640" cy="3474720"/>
          </a:xfrm>
          <a:prstGeom prst="roundRect">
            <a:avLst>
              <a:gd name="adj" fmla="val 1579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Problem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3794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quo jest wolny i kosztowny — to realny ból rynku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4709160" y="1005840"/>
            <a:ext cx="3977640" cy="3474720"/>
          </a:xfrm>
          <a:prstGeom prst="roundRect">
            <a:avLst>
              <a:gd name="adj" fmla="val 1579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4709160" y="1143000"/>
            <a:ext cx="397764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4800600" y="1554480"/>
            <a:ext cx="379476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Rozwiązanie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4800600" y="1965960"/>
            <a:ext cx="379476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Rozwiązania AI dla średnich firm produkcyjnych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Transformation Solutions — Biznesplan inwestorski</a:t>
            </a:r>
            <a:endParaRPr lang="en-US" sz="900" dirty="0"/>
          </a:p>
        </p:txBody>
      </p:sp>
      <p:sp>
        <p:nvSpPr>
          <p:cNvPr id="13" name="Text 11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Consultify · 3/12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Rynek: TAM 50 000 000 EUR · SOM 3 000 000 EUR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560320" cy="1188720"/>
          </a:xfrm>
          <a:prstGeom prst="roundRect">
            <a:avLst>
              <a:gd name="adj" fmla="val 4615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2560320" cy="534924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50 000 000 EUR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56819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TAM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3291840" y="914400"/>
            <a:ext cx="2560320" cy="1188720"/>
          </a:xfrm>
          <a:prstGeom prst="roundRect">
            <a:avLst>
              <a:gd name="adj" fmla="val 4615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3291840" y="1005840"/>
            <a:ext cx="2560320" cy="534924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10 000 000 EUR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3291840" y="156819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SAM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6126480" y="914400"/>
            <a:ext cx="2560320" cy="1188720"/>
          </a:xfrm>
          <a:prstGeom prst="roundRect">
            <a:avLst>
              <a:gd name="adj" fmla="val 4615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126480" y="1005840"/>
            <a:ext cx="2560320" cy="534924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3 000 000 EUR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6126480" y="1568196"/>
            <a:ext cx="256032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SOM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457200" y="228600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5000 klientów × 600 EUR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Transformation Solutions — Biznesplan inwestorski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Consultify · 4/12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Hybryda usługi + SaaS — dwa wzmacniające się strumienie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1005840"/>
            <a:ext cx="2560320" cy="3474720"/>
          </a:xfrm>
          <a:prstGeom prst="roundRect">
            <a:avLst>
              <a:gd name="adj" fmla="val 2143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6" name="Text 4"/>
          <p:cNvSpPr/>
          <p:nvPr/>
        </p:nvSpPr>
        <p:spPr>
          <a:xfrm>
            <a:off x="54864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Model biznesowy</a:t>
            </a:r>
            <a:endParaRPr lang="en-US" sz="1200" dirty="0"/>
          </a:p>
        </p:txBody>
      </p:sp>
      <p:sp>
        <p:nvSpPr>
          <p:cNvPr id="7" name="Text 5"/>
          <p:cNvSpPr/>
          <p:nvPr/>
        </p:nvSpPr>
        <p:spPr>
          <a:xfrm>
            <a:off x="548640" y="196596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Hybryda usługi + SaaS — dwa wzmacniające się strumienie</a:t>
            </a:r>
            <a:endParaRPr lang="en-US" sz="1000" dirty="0"/>
          </a:p>
        </p:txBody>
      </p:sp>
      <p:sp>
        <p:nvSpPr>
          <p:cNvPr id="8" name="Shape 6"/>
          <p:cNvSpPr/>
          <p:nvPr/>
        </p:nvSpPr>
        <p:spPr>
          <a:xfrm>
            <a:off x="3291840" y="1005840"/>
            <a:ext cx="2560320" cy="3474720"/>
          </a:xfrm>
          <a:prstGeom prst="roundRect">
            <a:avLst>
              <a:gd name="adj" fmla="val 2143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329184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10" name="Text 8"/>
          <p:cNvSpPr/>
          <p:nvPr/>
        </p:nvSpPr>
        <p:spPr>
          <a:xfrm>
            <a:off x="338328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Go-to-market</a:t>
            </a:r>
            <a:endParaRPr lang="en-US" sz="1200" dirty="0"/>
          </a:p>
        </p:txBody>
      </p:sp>
      <p:sp>
        <p:nvSpPr>
          <p:cNvPr id="11" name="Text 9"/>
          <p:cNvSpPr/>
          <p:nvPr/>
        </p:nvSpPr>
        <p:spPr>
          <a:xfrm>
            <a:off x="3383280" y="196596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Land-and-expand: usługi otwierają drzwi, SaaS skaluje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6126480" y="1005840"/>
            <a:ext cx="2560320" cy="3474720"/>
          </a:xfrm>
          <a:prstGeom prst="roundRect">
            <a:avLst>
              <a:gd name="adj" fmla="val 2143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26480" y="1143000"/>
            <a:ext cx="256032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000" dirty="0">
                <a:solidFill>
                  <a:srgbClr val="0C44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◆</a:t>
            </a:r>
            <a:endParaRPr lang="en-US" sz="2000" dirty="0"/>
          </a:p>
        </p:txBody>
      </p:sp>
      <p:sp>
        <p:nvSpPr>
          <p:cNvPr id="14" name="Text 12"/>
          <p:cNvSpPr/>
          <p:nvPr/>
        </p:nvSpPr>
        <p:spPr>
          <a:xfrm>
            <a:off x="6217920" y="1554480"/>
            <a:ext cx="2377440" cy="3657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2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Przewaga</a:t>
            </a:r>
            <a:endParaRPr lang="en-US" sz="1200" dirty="0"/>
          </a:p>
        </p:txBody>
      </p:sp>
      <p:sp>
        <p:nvSpPr>
          <p:cNvPr id="15" name="Text 13"/>
          <p:cNvSpPr/>
          <p:nvPr/>
        </p:nvSpPr>
        <p:spPr>
          <a:xfrm>
            <a:off x="6217920" y="1965960"/>
            <a:ext cx="2377440" cy="23774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0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Strukturalna przewaga kosztowa = trwały moat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Transformation Solutions — Biznesplan inwestorski</a:t>
            </a:r>
            <a:endParaRPr lang="en-US" sz="900" dirty="0"/>
          </a:p>
        </p:txBody>
      </p:sp>
      <p:sp>
        <p:nvSpPr>
          <p:cNvPr id="17" name="Text 15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Consultify · 5/12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Przychód 229 361 EUR, EBITDA 99 543 EUR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914400"/>
          <a:ext cx="4773168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559552" y="914400"/>
            <a:ext cx="312724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Przychód 229 361 EUR, EBITDA 99 543 EUR (marża 43%) w 2025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4389120"/>
            <a:ext cx="4773168" cy="1828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Source: Model finansowy (driver-based)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Transformation Solutions — Biznesplan inwestorski</a:t>
            </a:r>
            <a:endParaRPr lang="en-US" sz="900" dirty="0"/>
          </a:p>
        </p:txBody>
      </p:sp>
      <p:sp>
        <p:nvSpPr>
          <p:cNvPr id="8" name="Text 5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Consultify · 6/12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ARR 157 361 EUR</a:t>
            </a:r>
            <a:endParaRPr lang="en-US" sz="2800" dirty="0"/>
          </a:p>
        </p:txBody>
      </p:sp>
      <p:graphicFrame>
        <p:nvGraphicFramePr>
          <p:cNvPr id="4" name="Chart 0" descr=""/>
          <p:cNvGraphicFramePr/>
          <p:nvPr/>
        </p:nvGraphicFramePr>
        <p:xfrm>
          <a:off x="457200" y="914400"/>
          <a:ext cx="4773168" cy="3657600"/>
        </p:xfrm>
        <a:graphic xmlns:a="http://schemas.openxmlformats.org/drawingml/2006/main">
          <a:graphicData uri="http://schemas.openxmlformats.org/drawingml/2006/chart">
            <c:chart xmlns:c="http://schemas.openxmlformats.org/drawingml/2006/chart" r:id="rId1"/>
          </a:graphicData>
        </a:graphic>
      </p:graphicFrame>
      <p:sp>
        <p:nvSpPr>
          <p:cNvPr id="5" name="Text 2"/>
          <p:cNvSpPr/>
          <p:nvPr/>
        </p:nvSpPr>
        <p:spPr>
          <a:xfrm>
            <a:off x="5559552" y="914400"/>
            <a:ext cx="3127248" cy="310896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ARR rośnie do 157 361 EUR w 2025</a:t>
            </a:r>
            <a:endParaRPr lang="en-US" sz="1300" dirty="0"/>
          </a:p>
        </p:txBody>
      </p:sp>
      <p:sp>
        <p:nvSpPr>
          <p:cNvPr id="6" name="Text 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Transformation Solutions — Biznesplan inwestorski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Consultify · 7/12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LTV/CAC 5.67 ×, payback 14.12 mies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1851660" cy="1188720"/>
          </a:xfrm>
          <a:prstGeom prst="roundRect">
            <a:avLst>
              <a:gd name="adj" fmla="val 4615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457200" y="1005840"/>
            <a:ext cx="1851660" cy="534924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5.67 ×</a:t>
            </a:r>
            <a:endParaRPr lang="en-US" sz="3600" dirty="0"/>
          </a:p>
        </p:txBody>
      </p:sp>
      <p:sp>
        <p:nvSpPr>
          <p:cNvPr id="6" name="Text 4"/>
          <p:cNvSpPr/>
          <p:nvPr/>
        </p:nvSpPr>
        <p:spPr>
          <a:xfrm>
            <a:off x="457200" y="1568196"/>
            <a:ext cx="18516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 / CAC</a:t>
            </a:r>
            <a:endParaRPr lang="en-US" sz="1100" dirty="0"/>
          </a:p>
        </p:txBody>
      </p:sp>
      <p:sp>
        <p:nvSpPr>
          <p:cNvPr id="7" name="Shape 5"/>
          <p:cNvSpPr/>
          <p:nvPr/>
        </p:nvSpPr>
        <p:spPr>
          <a:xfrm>
            <a:off x="2583180" y="914400"/>
            <a:ext cx="1851660" cy="1188720"/>
          </a:xfrm>
          <a:prstGeom prst="roundRect">
            <a:avLst>
              <a:gd name="adj" fmla="val 4615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2583180" y="1005840"/>
            <a:ext cx="1851660" cy="534924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14.12 mies</a:t>
            </a:r>
            <a:endParaRPr lang="en-US" sz="3600" dirty="0"/>
          </a:p>
        </p:txBody>
      </p:sp>
      <p:sp>
        <p:nvSpPr>
          <p:cNvPr id="9" name="Text 7"/>
          <p:cNvSpPr/>
          <p:nvPr/>
        </p:nvSpPr>
        <p:spPr>
          <a:xfrm>
            <a:off x="2583180" y="1568196"/>
            <a:ext cx="18516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CAC payback</a:t>
            </a:r>
            <a:endParaRPr lang="en-US" sz="1100" dirty="0"/>
          </a:p>
        </p:txBody>
      </p:sp>
      <p:sp>
        <p:nvSpPr>
          <p:cNvPr id="10" name="Shape 8"/>
          <p:cNvSpPr/>
          <p:nvPr/>
        </p:nvSpPr>
        <p:spPr>
          <a:xfrm>
            <a:off x="4709160" y="914400"/>
            <a:ext cx="1851660" cy="1188720"/>
          </a:xfrm>
          <a:prstGeom prst="roundRect">
            <a:avLst>
              <a:gd name="adj" fmla="val 4615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709160" y="1005840"/>
            <a:ext cx="1851660" cy="534924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110%</a:t>
            </a:r>
            <a:endParaRPr lang="en-US" sz="3600" dirty="0"/>
          </a:p>
        </p:txBody>
      </p:sp>
      <p:sp>
        <p:nvSpPr>
          <p:cNvPr id="12" name="Text 10"/>
          <p:cNvSpPr/>
          <p:nvPr/>
        </p:nvSpPr>
        <p:spPr>
          <a:xfrm>
            <a:off x="4709160" y="1568196"/>
            <a:ext cx="18516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NRR</a:t>
            </a:r>
            <a:endParaRPr lang="en-US" sz="1100" dirty="0"/>
          </a:p>
        </p:txBody>
      </p:sp>
      <p:sp>
        <p:nvSpPr>
          <p:cNvPr id="13" name="Shape 11"/>
          <p:cNvSpPr/>
          <p:nvPr/>
        </p:nvSpPr>
        <p:spPr>
          <a:xfrm>
            <a:off x="6835140" y="914400"/>
            <a:ext cx="1851660" cy="1188720"/>
          </a:xfrm>
          <a:prstGeom prst="roundRect">
            <a:avLst>
              <a:gd name="adj" fmla="val 4615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14" name="Text 12"/>
          <p:cNvSpPr/>
          <p:nvPr/>
        </p:nvSpPr>
        <p:spPr>
          <a:xfrm>
            <a:off x="6835140" y="1005840"/>
            <a:ext cx="1851660" cy="534924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3600" b="1" dirty="0">
                <a:solidFill>
                  <a:srgbClr val="0C447C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44</a:t>
            </a:r>
            <a:endParaRPr lang="en-US" sz="3600" dirty="0"/>
          </a:p>
        </p:txBody>
      </p:sp>
      <p:sp>
        <p:nvSpPr>
          <p:cNvPr id="15" name="Text 13"/>
          <p:cNvSpPr/>
          <p:nvPr/>
        </p:nvSpPr>
        <p:spPr>
          <a:xfrm>
            <a:off x="6835140" y="1568196"/>
            <a:ext cx="1851660" cy="237744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ctr" indent="0" marL="0">
              <a:buNone/>
            </a:pPr>
            <a:r>
              <a:rPr lang="en-US" sz="11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Rule of 40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457200" y="2286000"/>
            <a:ext cx="8229600" cy="201168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LTV/CAC 5.67 ×, payback 14.12 mies — ekonomika zdrowa</a:t>
            </a:r>
            <a:endParaRPr lang="en-US" sz="1300" dirty="0"/>
          </a:p>
        </p:txBody>
      </p:sp>
      <p:sp>
        <p:nvSpPr>
          <p:cNvPr id="17" name="Text 15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Transformation Solutions — Biznesplan inwestorski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Consultify · 8/12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Kluczowe założenia = kluczowe ryzyka</a:t>
            </a:r>
            <a:endParaRPr lang="en-US" sz="2800" dirty="0"/>
          </a:p>
        </p:txBody>
      </p:sp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914400"/>
          <a:ext cx="8229600" cy="914400"/>
        </p:xfrm>
        <a:graphic>
          <a:graphicData uri="http://schemas.openxmlformats.org/drawingml/2006/table">
            <a:tbl>
              <a:tblPr/>
              <a:tblGrid>
                <a:gridCol w="2304288"/>
                <a:gridCol w="1152144"/>
                <a:gridCol w="1152144"/>
                <a:gridCol w="3621024"/>
              </a:tblGrid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Likelihood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Impact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Wzrost seatów r/r (0.25×)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HIGH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F4444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Zakres 0.23–0.28×; źródło: model wewnętrzny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revenue retention (1.1×)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Zakres 0.99–1.21×; źródło: SaaS Growth Trends Report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 brutto roczny (0.15%)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MEDIUM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59E0B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Zakres 0.14–0.17%; źródło: model wewnętrzny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Marża brutto (0.85%)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Zakres 0.77–0.94%; źródło: model wewnętrzny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576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 (600EUR)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algn="ctr"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LOW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22C55E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10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Zakres 480–720EUR; źródło: Customer Acquisition Cost Survey by XYZ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5" name="Text 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Transformation Solutions — Biznesplan inwestorski</a:t>
            </a:r>
            <a:endParaRPr lang="en-US" sz="900" dirty="0"/>
          </a:p>
        </p:txBody>
      </p:sp>
      <p:sp>
        <p:nvSpPr>
          <p:cNvPr id="6" name="Text 3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Consultify · 9/12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Roadmapa do celu finansowego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457200" y="914400"/>
            <a:ext cx="2560320" cy="457200"/>
          </a:xfrm>
          <a:prstGeom prst="roundRect">
            <a:avLst>
              <a:gd name="adj" fmla="val 8000"/>
            </a:avLst>
          </a:prstGeom>
          <a:solidFill>
            <a:srgbClr val="3B82F6"/>
          </a:solidFill>
          <a:ln/>
        </p:spPr>
      </p:sp>
      <p:sp>
        <p:nvSpPr>
          <p:cNvPr id="5" name="Text 3"/>
          <p:cNvSpPr/>
          <p:nvPr/>
        </p:nvSpPr>
        <p:spPr>
          <a:xfrm>
            <a:off x="457200" y="914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Rok 1 (2023)
</a:t>
            </a:r>
            <a:endParaRPr lang="en-US" sz="1100" dirty="0"/>
          </a:p>
        </p:txBody>
      </p:sp>
      <p:sp>
        <p:nvSpPr>
          <p:cNvPr id="6" name="Text 4"/>
          <p:cNvSpPr/>
          <p:nvPr/>
        </p:nvSpPr>
        <p:spPr>
          <a:xfrm>
            <a:off x="502920" y="1463040"/>
            <a:ext cx="2468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Przychód: 230 000</a:t>
            </a:r>
            <a:endParaRPr lang="en-US" sz="1000" dirty="0"/>
          </a:p>
          <a:p>
            <a:pPr>
              <a:spcAft>
                <a:spcPts val="800"/>
              </a:spcAft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EBITDA: 46 000</a:t>
            </a:r>
            <a:endParaRPr lang="en-US" sz="1000" dirty="0"/>
          </a:p>
        </p:txBody>
      </p:sp>
      <p:sp>
        <p:nvSpPr>
          <p:cNvPr id="7" name="Shape 5"/>
          <p:cNvSpPr/>
          <p:nvPr/>
        </p:nvSpPr>
        <p:spPr>
          <a:xfrm>
            <a:off x="3291840" y="914400"/>
            <a:ext cx="2560320" cy="457200"/>
          </a:xfrm>
          <a:prstGeom prst="roundRect">
            <a:avLst>
              <a:gd name="adj" fmla="val 8000"/>
            </a:avLst>
          </a:prstGeom>
          <a:solidFill>
            <a:srgbClr val="A0A8B8"/>
          </a:solidFill>
          <a:ln/>
        </p:spPr>
      </p:sp>
      <p:sp>
        <p:nvSpPr>
          <p:cNvPr id="8" name="Text 6"/>
          <p:cNvSpPr/>
          <p:nvPr/>
        </p:nvSpPr>
        <p:spPr>
          <a:xfrm>
            <a:off x="3291840" y="914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Rok 2 (2024)
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337560" y="1463040"/>
            <a:ext cx="2468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Przychód: 228 300</a:t>
            </a:r>
            <a:endParaRPr lang="en-US" sz="1000" dirty="0"/>
          </a:p>
          <a:p>
            <a:pPr>
              <a:spcAft>
                <a:spcPts val="800"/>
              </a:spcAft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EBITDA: 75 339</a:t>
            </a:r>
            <a:endParaRPr lang="en-US" sz="1000" dirty="0"/>
          </a:p>
        </p:txBody>
      </p:sp>
      <p:sp>
        <p:nvSpPr>
          <p:cNvPr id="10" name="Shape 8"/>
          <p:cNvSpPr/>
          <p:nvPr/>
        </p:nvSpPr>
        <p:spPr>
          <a:xfrm>
            <a:off x="6126480" y="914400"/>
            <a:ext cx="2560320" cy="457200"/>
          </a:xfrm>
          <a:prstGeom prst="roundRect">
            <a:avLst>
              <a:gd name="adj" fmla="val 8000"/>
            </a:avLst>
          </a:prstGeom>
          <a:solidFill>
            <a:srgbClr val="A0A8B8"/>
          </a:solidFill>
          <a:ln/>
        </p:spPr>
      </p:sp>
      <p:sp>
        <p:nvSpPr>
          <p:cNvPr id="11" name="Text 9"/>
          <p:cNvSpPr/>
          <p:nvPr/>
        </p:nvSpPr>
        <p:spPr>
          <a:xfrm>
            <a:off x="6126480" y="914400"/>
            <a:ext cx="256032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Rok 3 (2025)
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6172200" y="1463040"/>
            <a:ext cx="2468880" cy="30175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>
              <a:spcAft>
                <a:spcPts val="800"/>
              </a:spcAft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Przychód: 229 361</a:t>
            </a:r>
            <a:endParaRPr lang="en-US" sz="1000" dirty="0"/>
          </a:p>
          <a:p>
            <a:pPr>
              <a:spcAft>
                <a:spcPts val="800"/>
              </a:spcAft>
            </a:pPr>
            <a:r>
              <a:rPr lang="en-US" sz="10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EBITDA: 99 543</a:t>
            </a:r>
            <a:endParaRPr lang="en-US" sz="1000" dirty="0"/>
          </a:p>
        </p:txBody>
      </p:sp>
      <p:sp>
        <p:nvSpPr>
          <p:cNvPr id="13" name="Text 11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Transformation Solutions — Biznesplan inwestorski</a:t>
            </a:r>
            <a:endParaRPr lang="en-US" sz="900" dirty="0"/>
          </a:p>
        </p:txBody>
      </p:sp>
      <p:sp>
        <p:nvSpPr>
          <p:cNvPr id="14" name="Text 12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Consultify · 10/12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Poszukujemy finansowania na pełną transformację AI w przeciągu 12 miesięcy.</a:t>
            </a:r>
            <a:endParaRPr lang="en-US" sz="2800" dirty="0"/>
          </a:p>
        </p:txBody>
      </p:sp>
      <p:sp>
        <p:nvSpPr>
          <p:cNvPr id="4" name="Shape 2"/>
          <p:cNvSpPr/>
          <p:nvPr/>
        </p:nvSpPr>
        <p:spPr>
          <a:xfrm>
            <a:off x="914400" y="1005840"/>
            <a:ext cx="7315200" cy="3474720"/>
          </a:xfrm>
          <a:prstGeom prst="roundRect">
            <a:avLst>
              <a:gd name="adj" fmla="val 1579"/>
            </a:avLst>
          </a:prstGeom>
          <a:solidFill>
            <a:srgbClr val="F7F8FA"/>
          </a:solidFill>
          <a:ln w="6350">
            <a:solidFill>
              <a:srgbClr val="E2E5EB"/>
            </a:solidFill>
            <a:prstDash val="solid"/>
          </a:ln>
        </p:spPr>
      </p:sp>
      <p:sp>
        <p:nvSpPr>
          <p:cNvPr id="5" name="Shape 3"/>
          <p:cNvSpPr/>
          <p:nvPr/>
        </p:nvSpPr>
        <p:spPr>
          <a:xfrm>
            <a:off x="914400" y="1005840"/>
            <a:ext cx="54864" cy="3474720"/>
          </a:xfrm>
          <a:prstGeom prst="rect">
            <a:avLst/>
          </a:prstGeom>
          <a:solidFill>
            <a:srgbClr val="EF4444"/>
          </a:solidFill>
          <a:ln/>
        </p:spPr>
      </p:sp>
      <p:sp>
        <p:nvSpPr>
          <p:cNvPr id="6" name="Shape 4"/>
          <p:cNvSpPr/>
          <p:nvPr/>
        </p:nvSpPr>
        <p:spPr>
          <a:xfrm>
            <a:off x="7315200" y="1097280"/>
            <a:ext cx="777240" cy="201168"/>
          </a:xfrm>
          <a:prstGeom prst="roundRect">
            <a:avLst>
              <a:gd name="adj" fmla="val 36364"/>
            </a:avLst>
          </a:prstGeom>
          <a:solidFill>
            <a:srgbClr val="EF4444"/>
          </a:solidFill>
          <a:ln/>
        </p:spPr>
      </p:sp>
      <p:sp>
        <p:nvSpPr>
          <p:cNvPr id="7" name="Text 5"/>
          <p:cNvSpPr/>
          <p:nvPr/>
        </p:nvSpPr>
        <p:spPr>
          <a:xfrm>
            <a:off x="7315200" y="1097280"/>
            <a:ext cx="777240" cy="2011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8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</a:t>
            </a:r>
            <a:endParaRPr lang="en-US" sz="800" dirty="0"/>
          </a:p>
        </p:txBody>
      </p:sp>
      <p:sp>
        <p:nvSpPr>
          <p:cNvPr id="8" name="Text 6"/>
          <p:cNvSpPr/>
          <p:nvPr/>
        </p:nvSpPr>
        <p:spPr>
          <a:xfrm>
            <a:off x="1097280" y="1097280"/>
            <a:ext cx="6126480" cy="27432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600" b="1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Ask inwestorski</a:t>
            </a:r>
            <a:endParaRPr lang="en-US" sz="1600" dirty="0"/>
          </a:p>
        </p:txBody>
      </p:sp>
      <p:sp>
        <p:nvSpPr>
          <p:cNvPr id="9" name="Text 7"/>
          <p:cNvSpPr/>
          <p:nvPr/>
        </p:nvSpPr>
        <p:spPr>
          <a:xfrm>
            <a:off x="1097280" y="1417320"/>
            <a:ext cx="6949440" cy="1042416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Poszukujemy finansowania na pełną transformację AI w przeciągu 12 miesięcy.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1097280" y="4023360"/>
            <a:ext cx="3383280" cy="274320"/>
          </a:xfrm>
          <a:prstGeom prst="rect">
            <a:avLst>
              <a:gd name="adj" fmla="val 16667"/>
            </a:avLst>
          </a:prstGeom>
          <a:solidFill>
            <a:srgbClr val="0C447C"/>
          </a:solidFill>
          <a:ln/>
        </p:spPr>
      </p:sp>
      <p:sp>
        <p:nvSpPr>
          <p:cNvPr id="11" name="Text 9"/>
          <p:cNvSpPr/>
          <p:nvPr/>
        </p:nvSpPr>
        <p:spPr>
          <a:xfrm>
            <a:off x="1097280" y="4023360"/>
            <a:ext cx="3383280" cy="27432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Impact: Wycena 497 282 EUR–1 376 166 EUR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4572000" y="4023360"/>
            <a:ext cx="3383280" cy="274320"/>
          </a:xfrm>
          <a:prstGeom prst="rect">
            <a:avLst>
              <a:gd name="adj" fmla="val 16667"/>
            </a:avLst>
          </a:prstGeom>
          <a:solidFill>
            <a:srgbClr val="2C5F8A"/>
          </a:solidFill>
          <a:ln/>
        </p:spPr>
      </p:sp>
      <p:sp>
        <p:nvSpPr>
          <p:cNvPr id="13" name="Text 11"/>
          <p:cNvSpPr/>
          <p:nvPr/>
        </p:nvSpPr>
        <p:spPr>
          <a:xfrm>
            <a:off x="4572000" y="4023360"/>
            <a:ext cx="3383280" cy="274320"/>
          </a:xfrm>
          <a:prstGeom prst="rect">
            <a:avLst/>
          </a:prstGeom>
          <a:noFill/>
          <a:ln/>
        </p:spPr>
        <p:txBody>
          <a:bodyPr wrap="none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Effort: 500 000 EUR</a:t>
            </a:r>
            <a:endParaRPr lang="en-US" sz="1300" dirty="0"/>
          </a:p>
        </p:txBody>
      </p:sp>
      <p:sp>
        <p:nvSpPr>
          <p:cNvPr id="14" name="Text 12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Transformation Solutions — Biznesplan inwestorski</a:t>
            </a:r>
            <a:endParaRPr lang="en-US" sz="900" dirty="0"/>
          </a:p>
        </p:txBody>
      </p:sp>
      <p:sp>
        <p:nvSpPr>
          <p:cNvPr id="15" name="Text 13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Consultify · 11/12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9144000" cy="731520"/>
          </a:xfrm>
          <a:prstGeom prst="rect">
            <a:avLst/>
          </a:prstGeom>
          <a:solidFill>
            <a:srgbClr val="0C447C"/>
          </a:solidFill>
          <a:ln/>
        </p:spPr>
      </p:sp>
      <p:sp>
        <p:nvSpPr>
          <p:cNvPr id="3" name="Text 1"/>
          <p:cNvSpPr/>
          <p:nvPr/>
        </p:nvSpPr>
        <p:spPr>
          <a:xfrm>
            <a:off x="457200" y="13716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28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Załącznik: obronność założeń</a:t>
            </a:r>
            <a:endParaRPr lang="en-US" sz="2800" dirty="0"/>
          </a:p>
        </p:txBody>
      </p:sp>
      <p:sp>
        <p:nvSpPr>
          <p:cNvPr id="4" name="Text 2"/>
          <p:cNvSpPr/>
          <p:nvPr/>
        </p:nvSpPr>
        <p:spPr>
          <a:xfrm>
            <a:off x="457200" y="914400"/>
            <a:ext cx="8229600" cy="1463040"/>
          </a:xfrm>
          <a:prstGeom prst="rect">
            <a:avLst/>
          </a:prstGeom>
          <a:noFill/>
          <a:ln/>
        </p:spPr>
        <p:txBody>
          <a:bodyPr wrap="square" rtlCol="0" anchor="t"/>
          <a:lstStyle/>
          <a:p>
            <a:pPr algn="l" indent="0" marL="0">
              <a:buNone/>
            </a:pPr>
            <a:r>
              <a:rPr lang="en-US" sz="1300" dirty="0">
                <a:solidFill>
                  <a:srgbClr val="1A1A2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Kluczowe założenia z wartością bazową, zakresem i źródłem (posortowane wg wpływu na wynik).</a:t>
            </a:r>
            <a:endParaRPr lang="en-US" sz="1300" dirty="0"/>
          </a:p>
        </p:txBody>
      </p:sp>
      <p:graphicFrame>
        <p:nvGraphicFramePr>
          <p:cNvPr id="13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57200" y="2514600"/>
          <a:ext cx="8229600" cy="914400"/>
        </p:xfrm>
        <a:graphic>
          <a:graphicData uri="http://schemas.openxmlformats.org/drawingml/2006/table">
            <a:tbl>
              <a:tblPr/>
              <a:tblGrid>
                <a:gridCol w="2057400"/>
                <a:gridCol w="2057400"/>
                <a:gridCol w="2057400"/>
                <a:gridCol w="2057400"/>
              </a:tblGrid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Założenie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Wartość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Zakres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Źródło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C447C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Wzrost seatów r/r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0.25×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0.23–0.28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wewnętrzny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Net revenue retention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1.1×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0.99–1.21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SaaS Growth Trends Report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Churn brutto roczny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0.14–0.17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wewnętrzny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Marża brutto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0.85%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0.77–0.94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model wewnętrzny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CAC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600EUR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480–720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indent="0" marL="0">
                        <a:buNone/>
                      </a:pPr>
                      <a:r>
                        <a:rPr lang="en-US" sz="900" dirty="0">
                          <a:solidFill>
                            <a:srgbClr val="1A1A2E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Customer Acquisition Cost Survey by XYZ</a:t>
                      </a:r>
                      <a:endParaRPr lang="en-US" sz="9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 marL="91440" marR="91440" marT="45720" marB="45720">
                    <a:lnL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E2E5EB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id="6" name="Text 3"/>
          <p:cNvSpPr/>
          <p:nvPr/>
        </p:nvSpPr>
        <p:spPr>
          <a:xfrm>
            <a:off x="457200" y="4754880"/>
            <a:ext cx="54864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900" i="1" dirty="0">
                <a:solidFill>
                  <a:srgbClr val="A0A8B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AI Transformation Solutions — Biznesplan inwestorski</a:t>
            </a:r>
            <a:endParaRPr lang="en-US" sz="900" dirty="0"/>
          </a:p>
        </p:txBody>
      </p:sp>
      <p:sp>
        <p:nvSpPr>
          <p:cNvPr id="7" name="Text 4"/>
          <p:cNvSpPr/>
          <p:nvPr/>
        </p:nvSpPr>
        <p:spPr>
          <a:xfrm>
            <a:off x="5760720" y="4754880"/>
            <a:ext cx="2971800" cy="146304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algn="r" indent="0" marL="0">
              <a:buNone/>
            </a:pPr>
            <a:r>
              <a:rPr lang="en-US" sz="650" dirty="0">
                <a:solidFill>
                  <a:srgbClr val="5A6178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 · Consultify · 12/12</a:t>
            </a:r>
            <a:endParaRPr lang="en-US" sz="6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8412480" y="4834890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900">
                <a:solidFill>
                  <a:srgbClr val="A0A8B8"/>
                </a:solidFill>
                <a:latin typeface="Calibri"/>
                <a:ea typeface="Calibri"/>
                <a:cs typeface="Calibri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457200" y="1645920"/>
            <a:ext cx="8229600" cy="9144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400" b="1" dirty="0">
                <a:solidFill>
                  <a:srgbClr val="FFFFFF"/>
                </a:solidFill>
                <a:latin typeface="Calibri Light" pitchFamily="34" charset="0"/>
                <a:ea typeface="Calibri Light" pitchFamily="34" charset="-122"/>
                <a:cs typeface="Calibri Light" pitchFamily="34" charset="-120"/>
              </a:rPr>
              <a:t>Dziękujemy</a:t>
            </a:r>
            <a:endParaRPr lang="en-US" sz="4400" dirty="0"/>
          </a:p>
        </p:txBody>
      </p:sp>
      <p:sp>
        <p:nvSpPr>
          <p:cNvPr id="3" name="Text 1"/>
          <p:cNvSpPr/>
          <p:nvPr/>
        </p:nvSpPr>
        <p:spPr>
          <a:xfrm>
            <a:off x="457200" y="2926080"/>
            <a:ext cx="822960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6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Raport wygenerowany przez Consultify</a:t>
            </a:r>
            <a:endParaRPr lang="en-US" sz="1600" dirty="0"/>
          </a:p>
        </p:txBody>
      </p:sp>
      <p:sp>
        <p:nvSpPr>
          <p:cNvPr id="4" name="Text 2"/>
          <p:cNvSpPr/>
          <p:nvPr/>
        </p:nvSpPr>
        <p:spPr>
          <a:xfrm>
            <a:off x="457200" y="3657600"/>
            <a:ext cx="8229600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2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2026-06-28</a:t>
            </a:r>
            <a:endParaRPr lang="en-US" sz="1200" dirty="0"/>
          </a:p>
        </p:txBody>
      </p:sp>
      <p:sp>
        <p:nvSpPr>
          <p:cNvPr id="5" name="Text 3"/>
          <p:cNvSpPr/>
          <p:nvPr/>
        </p:nvSpPr>
        <p:spPr>
          <a:xfrm>
            <a:off x="6858000" y="4663440"/>
            <a:ext cx="18288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r" indent="0" marL="0">
              <a:buNone/>
            </a:pPr>
            <a:r>
              <a:rPr lang="en-US" sz="80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CONFIDENTIAL</a:t>
            </a:r>
            <a:endParaRPr lang="en-US" sz="8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13</Slides>
  <Notes>13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13</vt:i4>
      </vt:variant>
    </vt:vector>
  </HeadingPairs>
  <TitlesOfParts>
    <vt:vector size="16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</vt:vector>
  </TitlesOfParts>
  <Company>AI Transformation Solutions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Biznesplan inwestorski</dc:title>
  <dc:subject>business_plan Report</dc:subject>
  <dc:creator>Consultify</dc:creator>
  <cp:lastModifiedBy>Consultify</cp:lastModifiedBy>
  <cp:revision>1</cp:revision>
  <dcterms:created xsi:type="dcterms:W3CDTF">2026-06-28T05:21:27Z</dcterms:created>
  <dcterms:modified xsi:type="dcterms:W3CDTF">2026-06-28T05:21:27Z</dcterms:modified>
</cp:coreProperties>
</file>