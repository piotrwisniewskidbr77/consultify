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 at stake (M EUR/yr, midpoint)</c:v>
                </c:pt>
              </c:strCache>
            </c:strRef>
          </c:tx>
          <c:spPr>
            <a:solidFill>
              <a:srgbClr val="0C44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Line 3 OEE</c:v>
                  </c:pt>
                  <c:pt idx="1">
                    <c:v>Renewal risk</c:v>
                  </c:pt>
                  <c:pt idx="2">
                    <c:v>Supplier risk</c:v>
                  </c:pt>
                  <c:pt idx="3">
                    <c:v>Quality CoPQ</c:v>
                  </c:pt>
                  <c:pt idx="4">
                    <c:v>Partner ramp</c:v>
                  </c:pt>
                  <c:pt idx="5">
                    <c:v>Changeover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5</c:v>
                </c:pt>
                <c:pt idx="2">
                  <c:v>2.75</c:v>
                </c:pt>
                <c:pt idx="3">
                  <c:v>1.25</c:v>
                </c:pt>
                <c:pt idx="4">
                  <c:v>2.5</c:v>
                </c:pt>
                <c:pt idx="5">
                  <c:v>0.85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Digital Twin, factory telemetry, Atelier Digital SaaS already live
• Gap is connective tissue: signals do not become governed decisions
• Executive layer lacks one integrated view of value, risk, adoptionEvidence base: 22 leadership personas, 440 interview answers, 18 technology insights, 20 initiatives. The ingredients of a serious digital transformation already exist; they do not yet operate as one management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numbers frame the mandate: a deep evidence base, a large but concentrated value pool, and a renewal gap that alone protects the biggest single pool.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Atelier is genuinely strong on operations and ESG credentials, but district procurement, COPPA posture, AI use-case governance and origin-aware sourcing become contractual deal-blockers before US scale is a safe bet.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1. Line 3 Digital Twin — operational value, visible demo
• 5-7. OT Cyber · Data Governance · Partner ActivationA portfolio can hold 20 initiatives, but executive attention should prove the operating model on the handful with clear value, named owners and a strong KPI path. Sequencing follows the priority matrix.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Every Wave 1 initiative expressible as a sub-thesis of one story
• Adoption KPIs at role level protect 1.5-2.5 M EUR Wave 1 value
• US buyers, districts and partners rehearse one message backAdopt one thesis — Atelier runs a governed digital transformation turning distributed digital signals into reliable enterprise decisions, with measurable value in operations, digital revenue quality and enterprise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44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280160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D9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7589520" cy="1463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From digital initiatives to a governed digital transformation operating model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95528" y="3291840"/>
            <a:ext cx="1554480" cy="0"/>
          </a:xfrm>
          <a:prstGeom prst="line">
            <a:avLst/>
          </a:prstGeom>
          <a:noFill/>
          <a:ln w="38100">
            <a:solidFill>
              <a:srgbClr val="1D9E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456432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Atelier Toys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44988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2026-07-03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0" y="449884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CONSULTIFY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Atelier Toys is not digitally immature — its digital work is ungoverned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0"/>
          </a:xfrm>
          <a:prstGeom prst="line">
            <a:avLst/>
          </a:prstGeom>
          <a:noFill/>
          <a:ln w="12700">
            <a:solidFill>
              <a:srgbClr val="E3E7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Atelier Toys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695590" y="164592"/>
            <a:ext cx="1082650" cy="237744"/>
          </a:xfrm>
          <a:prstGeom prst="roundRect">
            <a:avLst>
              <a:gd name="adj" fmla="val 1538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95590" y="164592"/>
            <a:ext cx="108265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 SUMMARY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8046720" cy="3017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 Twin, factory telemetry, Atelier Digital SaaS already…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governance and OT cybersecurity investment already underway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 is connective tissue: signals do not become…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Executive layer lacks one integrated view of value,…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Good digital work underperforms because decisions arrive late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The same operating-model gap recurs across every function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0"/>
          </a:xfrm>
          <a:prstGeom prst="line">
            <a:avLst/>
          </a:prstGeom>
          <a:noFill/>
          <a:ln w="12700">
            <a:solidFill>
              <a:srgbClr val="E3E7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Atelier Toys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955280" y="164592"/>
            <a:ext cx="822960" cy="237744"/>
          </a:xfrm>
          <a:prstGeom prst="roundRect">
            <a:avLst>
              <a:gd name="adj" fmla="val 1538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459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48640" y="1600200"/>
            <a:ext cx="73152" cy="82296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1554480"/>
            <a:ext cx="397764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3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Plant, finance, product, customer success and partners describe one shared gap from different angles: enough data to act earlier, not enough governance discipline to turn data into consistent decisions.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5212080" y="1554480"/>
            <a:ext cx="3383280" cy="3063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marL="203200" indent="-203200"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Signals arrive late — value leaks before intervention</a:t>
            </a:r>
            <a:pPr algn="l" marL="203200" indent="-203200"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definitions vary — portfolio progress is not comparable</a:t>
            </a:r>
            <a:pPr algn="l" marL="203200" indent="-203200"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Pilots lack scale gates — real gains stay unrepeatable</a:t>
            </a:r>
            <a:pPr algn="l" marL="203200" indent="-203200"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Owners named, cross-function dependencies weak</a:t>
            </a:r>
            <a:pPr algn="l" marL="203200" indent="-203200"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is active but not yet evidence-driven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Six benchmarked gaps expose 14-22 M EUR of run-rate value at stake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0"/>
          </a:xfrm>
          <a:prstGeom prst="line">
            <a:avLst/>
          </a:prstGeom>
          <a:noFill/>
          <a:ln w="12700">
            <a:solidFill>
              <a:srgbClr val="E3E7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Atelier Toys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955280" y="164592"/>
            <a:ext cx="822960" cy="237744"/>
          </a:xfrm>
          <a:prstGeom prst="roundRect">
            <a:avLst>
              <a:gd name="adj" fmla="val 1538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459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KPIs</a:t>
            </a:r>
            <a:endParaRPr lang="en-US" sz="700" dirty="0"/>
          </a:p>
        </p:txBody>
      </p:sp>
      <p:graphicFrame>
        <p:nvGraphicFramePr>
          <p:cNvPr id="9" name="Chart 0" descr="Wykres słupkowy „Value at stake (M EUR/yr, midpoint)&quot; — trend malejący od 3 do 0.9 w 6 okresach."/>
          <p:cNvGraphicFramePr/>
          <p:nvPr/>
        </p:nvGraphicFramePr>
        <p:xfrm>
          <a:off x="548640" y="1920240"/>
          <a:ext cx="804672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548640" y="1463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theme is anchored to an anonymized top-quartile reference. The value pool is concentrated, not diffuse — which makes Wave 1 sequencing possible.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The evidence base is decision-grade, and the value pool is concentrated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0"/>
          </a:xfrm>
          <a:prstGeom prst="line">
            <a:avLst/>
          </a:prstGeom>
          <a:noFill/>
          <a:ln w="12700">
            <a:solidFill>
              <a:srgbClr val="E3E7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Atelier Toys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955280" y="164592"/>
            <a:ext cx="822960" cy="237744"/>
          </a:xfrm>
          <a:prstGeom prst="roundRect">
            <a:avLst>
              <a:gd name="adj" fmla="val 1538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459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KPIs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48640" y="1554480"/>
            <a:ext cx="1840230" cy="2148840"/>
          </a:xfrm>
          <a:prstGeom prst="rect">
            <a:avLst/>
          </a:prstGeom>
          <a:solidFill>
            <a:srgbClr val="F5F8FC"/>
          </a:solidFill>
          <a:ln w="12700">
            <a:solidFill>
              <a:srgbClr val="E3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554480"/>
            <a:ext cx="184023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1810512"/>
            <a:ext cx="1620774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440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58368" y="2724912"/>
            <a:ext cx="162077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Interview answers analysed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3246120"/>
            <a:ext cx="1620774" cy="3840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 leadership personas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617470" y="1554480"/>
            <a:ext cx="1840230" cy="2148840"/>
          </a:xfrm>
          <a:prstGeom prst="rect">
            <a:avLst/>
          </a:prstGeom>
          <a:solidFill>
            <a:srgbClr val="F5F8FC"/>
          </a:solidFill>
          <a:ln w="12700">
            <a:solidFill>
              <a:srgbClr val="E3E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17470" y="1554480"/>
            <a:ext cx="184023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27198" y="1810512"/>
            <a:ext cx="1620774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14–22 M€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2727198" y="2724912"/>
            <a:ext cx="162077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Run-rate value at stake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727198" y="3246120"/>
            <a:ext cx="1620774" cy="3840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across 6 benchmarked gaps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86300" y="1554480"/>
            <a:ext cx="1840230" cy="2148840"/>
          </a:xfrm>
          <a:prstGeom prst="rect">
            <a:avLst/>
          </a:prstGeom>
          <a:solidFill>
            <a:srgbClr val="F5F8FC"/>
          </a:solidFill>
          <a:ln w="12700">
            <a:solidFill>
              <a:srgbClr val="E3E7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86300" y="1554480"/>
            <a:ext cx="184023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96028" y="1810512"/>
            <a:ext cx="1620774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18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4796028" y="2724912"/>
            <a:ext cx="162077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Technology insights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96028" y="3246120"/>
            <a:ext cx="1620774" cy="3840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mapped to 20 initiatives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55130" y="1554480"/>
            <a:ext cx="1840230" cy="2148840"/>
          </a:xfrm>
          <a:prstGeom prst="rect">
            <a:avLst/>
          </a:prstGeom>
          <a:solidFill>
            <a:srgbClr val="F5F8FC"/>
          </a:solidFill>
          <a:ln w="12700">
            <a:solidFill>
              <a:srgbClr val="E3E7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55130" y="1554480"/>
            <a:ext cx="184023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64858" y="1810512"/>
            <a:ext cx="1620774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+12 pp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6864858" y="2724912"/>
            <a:ext cx="162077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Renewal-gap to top quartile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864858" y="3246120"/>
            <a:ext cx="1620774" cy="3840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76–80% → 88–92%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388620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numbers frame the mandate: a deep evidence base, a large but concentrated value pool, and a renewal gap that alone protects the biggest single pool.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The executive heatmap sequences Wave 1 where evidence and value both concentrate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0"/>
          </a:xfrm>
          <a:prstGeom prst="line">
            <a:avLst/>
          </a:prstGeom>
          <a:noFill/>
          <a:ln w="12700">
            <a:solidFill>
              <a:srgbClr val="E3E7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Atelier Toys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955280" y="164592"/>
            <a:ext cx="822960" cy="237744"/>
          </a:xfrm>
          <a:prstGeom prst="roundRect">
            <a:avLst>
              <a:gd name="adj" fmla="val 1538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459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920240"/>
            <a:ext cx="310896" cy="310896"/>
          </a:xfrm>
          <a:prstGeom prst="pie">
            <a:avLst>
              <a:gd name="adj1" fmla="val 0"/>
              <a:gd name="adj2" fmla="val 2160000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192024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Factory telemetry &amp; Digital Twin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949440" y="1920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pełny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" y="233172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331720"/>
            <a:ext cx="310896" cy="310896"/>
          </a:xfrm>
          <a:prstGeom prst="pie">
            <a:avLst>
              <a:gd name="adj1" fmla="val 0"/>
              <a:gd name="adj2" fmla="val 2160000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23317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Supplier control tower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949440" y="23317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pełny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274320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2743200"/>
            <a:ext cx="310896" cy="310896"/>
          </a:xfrm>
          <a:prstGeom prst="pie">
            <a:avLst>
              <a:gd name="adj1" fmla="val 0"/>
              <a:gd name="adj2" fmla="val 2160000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274320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 subscription renewal risk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949440" y="2743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pełny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315468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154680"/>
            <a:ext cx="310896" cy="310896"/>
          </a:xfrm>
          <a:prstGeom prst="pie">
            <a:avLst>
              <a:gd name="adj1" fmla="val 0"/>
              <a:gd name="adj2" fmla="val 2160000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" y="315468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governance (cross-portfolio)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949440" y="31546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pełny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8640" y="356616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566160"/>
            <a:ext cx="310896" cy="310896"/>
          </a:xfrm>
          <a:prstGeom prst="pie">
            <a:avLst>
              <a:gd name="adj1" fmla="val 0"/>
              <a:gd name="adj2" fmla="val 1620000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" y="356616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Closed-loop quality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49440" y="35661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wysoki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8640" y="3977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3977640"/>
            <a:ext cx="310896" cy="310896"/>
          </a:xfrm>
          <a:prstGeom prst="pie">
            <a:avLst>
              <a:gd name="adj1" fmla="val 0"/>
              <a:gd name="adj2" fmla="val 1620000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" y="397764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 cybersecurity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49440" y="39776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wysoki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8640" y="438912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4389120"/>
            <a:ext cx="310896" cy="310896"/>
          </a:xfrm>
          <a:prstGeom prst="pie">
            <a:avLst>
              <a:gd name="adj1" fmla="val 0"/>
              <a:gd name="adj2" fmla="val 1080000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0120" y="43891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Partner activation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949440" y="43891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średni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48640" y="1463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where evidence is strong, the value pool is material, and named owners already exist — do not wait for a perfect maturity audit before launching the first wave.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Factory telemetry is rich, but supervisors react 30 minutes after the loss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0"/>
          </a:xfrm>
          <a:prstGeom prst="line">
            <a:avLst/>
          </a:prstGeom>
          <a:noFill/>
          <a:ln w="12700">
            <a:solidFill>
              <a:srgbClr val="E3E7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Atelier Toys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955280" y="164592"/>
            <a:ext cx="822960" cy="237744"/>
          </a:xfrm>
          <a:prstGeom prst="roundRect">
            <a:avLst>
              <a:gd name="adj" fmla="val 1538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459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SOLUTION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48640" y="1600200"/>
            <a:ext cx="73152" cy="82296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1554480"/>
            <a:ext cx="397764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Alerts exist; routing, classification and action protocols are inconsistent across shifts — a 20–30 minute event-to-response lag leaks 0.8–1.2 M EUR/yr on Line 3.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212080" y="1554480"/>
            <a:ext cx="3383280" cy="3063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marL="203200" indent="-203200"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required: approve a Line 3 shift-decision contract</a:t>
            </a:r>
            <a:pPr algn="l" marL="203200" indent="-203200"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taxonomy + alert routing + action protocol + learning capture</a:t>
            </a:r>
            <a:pPr algn="l" marL="203200" indent="-203200"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Fund Digital Twin as an operating system, not a dashboard</a:t>
            </a:r>
            <a:pPr algn="l" marL="203200" indent="-203200"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Adoption KPIs sit next to outcome KPIs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Atelier Digital renewal risk is detected too late to cure, only to negotiate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0"/>
          </a:xfrm>
          <a:prstGeom prst="line">
            <a:avLst/>
          </a:prstGeom>
          <a:noFill/>
          <a:ln w="12700">
            <a:solidFill>
              <a:srgbClr val="E3E7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Atelier Toys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955280" y="164592"/>
            <a:ext cx="822960" cy="237744"/>
          </a:xfrm>
          <a:prstGeom prst="roundRect">
            <a:avLst>
              <a:gd name="adj" fmla="val 1538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459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SOLUTION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48640" y="1600200"/>
            <a:ext cx="73152" cy="82296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1554480"/>
            <a:ext cx="397764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3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Activation, usage, support and partner signals live in separate views; risk surfaces only after escalation. Moving gross renewal from 76-80% toward the 88-92% top-quartile reference protects 4-6 M EUR ARR.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5212080" y="1554480"/>
            <a:ext cx="3383280" cy="3063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marL="203200" indent="-203200"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required: launch a renewal-risk action system</a:t>
            </a:r>
            <a:pPr algn="l" marL="203200" indent="-203200"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Fuse usage, support, partner and account signals weekly</a:t>
            </a:r>
            <a:pPr algn="l" marL="203200" indent="-203200"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 prioritized intervention list with owners and playbooks</a:t>
            </a:r>
            <a:pPr algn="l" marL="203200" indent="-203200"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another analytics dashboard — an action system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Data governance is the common dependency under nearly every value pool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0"/>
          </a:xfrm>
          <a:prstGeom prst="line">
            <a:avLst/>
          </a:prstGeom>
          <a:noFill/>
          <a:ln w="12700">
            <a:solidFill>
              <a:srgbClr val="E3E7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Atelier Toys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955280" y="164592"/>
            <a:ext cx="822960" cy="237744"/>
          </a:xfrm>
          <a:prstGeom prst="roundRect">
            <a:avLst>
              <a:gd name="adj" fmla="val 1538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459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SOLUTION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48640" y="1600200"/>
            <a:ext cx="73152" cy="82296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1554480"/>
            <a:ext cx="397764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1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OEE, defect recurrence, supplier risk, renewal risk, partner activation and roadmap value all need one source of truth. Inconsistent definitions drag portfolio productivity 8-12% and raise US audit cost as scale grows.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5212080" y="1554480"/>
            <a:ext cx="3383280" cy="3063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marL="203200" indent="-203200"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required: fund top-25 metric ownership and lineage in Wave 1</a:t>
            </a:r>
            <a:pPr algn="l" marL="203200" indent="-203200"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Treat data governance as enabling infrastructure, not back-office</a:t>
            </a:r>
            <a:pPr algn="l" marL="203200" indent="-203200"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Definitions, ownership, lineage, quality SLAs — the boring work</a:t>
            </a:r>
            <a:pPr algn="l" marL="203200" indent="-203200"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Prerequisite for COPPA / FERPA-aligned US readiness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US expansion raises the bar: data, AI, partner and tariff readiness need evidence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0"/>
          </a:xfrm>
          <a:prstGeom prst="line">
            <a:avLst/>
          </a:prstGeom>
          <a:noFill/>
          <a:ln w="12700">
            <a:solidFill>
              <a:srgbClr val="E3E7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Atelier Toys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955280" y="164592"/>
            <a:ext cx="822960" cy="237744"/>
          </a:xfrm>
          <a:prstGeom prst="roundRect">
            <a:avLst>
              <a:gd name="adj" fmla="val 1538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459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48640" y="1554480"/>
            <a:ext cx="3840480" cy="3063240"/>
          </a:xfrm>
          <a:prstGeom prst="rect">
            <a:avLst/>
          </a:prstGeom>
          <a:solidFill>
            <a:srgbClr val="F5F8FC"/>
          </a:solidFill>
          <a:ln w="12700">
            <a:solidFill>
              <a:srgbClr val="E3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554480"/>
            <a:ext cx="3840480" cy="45720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1554480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Already an asset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3232" y="2176272"/>
            <a:ext cx="351129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marL="203200" indent="-2032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ESG &amp; supply-chain traceability — package as buyer proof</a:t>
            </a:r>
            <a:pPr algn="l" marL="203200" indent="-2032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Operations &amp; OEE credentials — genuine strength</a:t>
            </a:r>
            <a:pPr algn="l" marL="203200" indent="-2032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Learning-outcome usage data — partial, extendable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54880" y="1554480"/>
            <a:ext cx="3840480" cy="3063240"/>
          </a:xfrm>
          <a:prstGeom prst="rect">
            <a:avLst/>
          </a:prstGeom>
          <a:solidFill>
            <a:srgbClr val="F2F9F6"/>
          </a:solidFill>
          <a:ln w="12700">
            <a:solidFill>
              <a:srgbClr val="E3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0" y="1554480"/>
            <a:ext cx="3840480" cy="45720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19472" y="1554480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Close before US scale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19472" y="2176272"/>
            <a:ext cx="351129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marL="203200" indent="-2032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District &amp; GPO contract readiness — standardize pack</a:t>
            </a:r>
            <a:pPr algn="l" marL="203200" indent="-2032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COPPA / US state privacy — document child-data flows</a:t>
            </a:r>
            <a:pPr algn="l" marL="203200" indent="-2032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use-case governance — approved-use registry + audit</a:t>
            </a:r>
            <a:pPr algn="l" marL="203200" indent="-2032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Tariff &amp; origin-aware procurement — scenario model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Wave 1 focuses executive attention on seven initiatives, not twenty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0"/>
          </a:xfrm>
          <a:prstGeom prst="line">
            <a:avLst/>
          </a:prstGeom>
          <a:noFill/>
          <a:ln w="12700">
            <a:solidFill>
              <a:srgbClr val="E3E7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Atelier Toys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955280" y="164592"/>
            <a:ext cx="822960" cy="237744"/>
          </a:xfrm>
          <a:prstGeom prst="roundRect">
            <a:avLst>
              <a:gd name="adj" fmla="val 1538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459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8046720" cy="3017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Line 3 Digital Twin — operational value,…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Procurement Control Tower — resilience and margin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Renewal-Risk Action System — digital revenue quality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Closed-Loop Quality Cockpit — prevents quality debt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5-7. OT Cyber · Data Governance · Partner…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What to do first: launch Wave 1 now and reposition the PMO as a control tower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0"/>
          </a:xfrm>
          <a:prstGeom prst="line">
            <a:avLst/>
          </a:prstGeom>
          <a:noFill/>
          <a:ln w="12700">
            <a:solidFill>
              <a:srgbClr val="E3E7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Atelier Toys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955280" y="164592"/>
            <a:ext cx="822960" cy="237744"/>
          </a:xfrm>
          <a:prstGeom prst="roundRect">
            <a:avLst>
              <a:gd name="adj" fmla="val 1538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459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48640" y="1600200"/>
            <a:ext cx="73152" cy="82296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1554480"/>
            <a:ext cx="397764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Evidence is decision-grade for prioritization. Start the right 30-day actions now while assigning data owners to close baseline gaps in parallel — do not wait for a full maturity audit.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212080" y="1554480"/>
            <a:ext cx="3383280" cy="3063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marL="203200" indent="-203200"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1 — confirm Wave 1 scope, owners and KPI baselines</a:t>
            </a:r>
            <a:pPr algn="l" marL="203200" indent="-203200"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2 — run first control tower; prototype 3 signal systems</a:t>
            </a:r>
            <a:pPr algn="l" marL="203200" indent="-203200"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3 — validate financials with confidence-banded value view</a:t>
            </a:r>
            <a:pPr algn="l" marL="203200" indent="-203200"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4 — executive review: scale, adjust or stop</a:t>
            </a:r>
            <a:pPr algn="l" marL="203200" indent="-203200"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confidence-banded value cases before Gate 2 funding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0C447C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What to expect: one board narrative that converts digital signals into governed value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0"/>
          </a:xfrm>
          <a:prstGeom prst="line">
            <a:avLst/>
          </a:prstGeom>
          <a:noFill/>
          <a:ln w="12700">
            <a:solidFill>
              <a:srgbClr val="E3E7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Atelier Toys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545629" y="164592"/>
            <a:ext cx="1232611" cy="237744"/>
          </a:xfrm>
          <a:prstGeom prst="roundRect">
            <a:avLst>
              <a:gd name="adj" fmla="val 1538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45629" y="164592"/>
            <a:ext cx="123261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 ECONOMICS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8046720" cy="3017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Wave 1 initiative expressible as a sub-thesis…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ledger ends reopened decisions and lost momentum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Adoption KPIs at role level protect 1.5-2.5 M…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 buyers, districts and partners rehearse one message…</a:t>
            </a:r>
            <a:pPr algn="l" marL="228600" indent="-2286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2C2C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Removes 1.4-3.3 M EUR/yr of narrative-debt value leakage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44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051560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D9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7589520" cy="1371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Launch Wave 1 now and reposition the PMO as a Transformation Control Tower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95528" y="2926080"/>
            <a:ext cx="1554480" cy="0"/>
          </a:xfrm>
          <a:prstGeom prst="line">
            <a:avLst/>
          </a:prstGeom>
          <a:noFill/>
          <a:ln w="38100">
            <a:solidFill>
              <a:srgbClr val="1D9E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127248"/>
            <a:ext cx="758952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to expect: In 12-18 months, distributed digital signals become governed enterprise decisions — with one board narrative that removes 1.4-3.3 M EUR/yr of avoidable value leakage.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44988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2026-07-03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0" y="449884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CONSULTIFY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Atelier Toys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digital initiatives to a governed digital transformation operating model</dc:title>
  <dc:subject>PptxGenJS Presentation</dc:subject>
  <dc:creator>Consultify</dc:creator>
  <cp:lastModifiedBy>Consultify</cp:lastModifiedBy>
  <cp:revision>1</cp:revision>
  <dcterms:created xsi:type="dcterms:W3CDTF">2026-07-03T02:35:56Z</dcterms:created>
  <dcterms:modified xsi:type="dcterms:W3CDTF">2026-07-03T02:35:56Z</dcterms:modified>
</cp:coreProperties>
</file>