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 at stake (M EUR/yr, midpoint)</c:v>
                </c:pt>
              </c:strCache>
            </c:strRef>
          </c:tx>
          <c:spPr>
            <a:solidFill>
              <a:srgbClr val="0C44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Line 3 OEE</c:v>
                  </c:pt>
                  <c:pt idx="1">
                    <c:v>Renewal risk</c:v>
                  </c:pt>
                  <c:pt idx="2">
                    <c:v>Supplier risk</c:v>
                  </c:pt>
                  <c:pt idx="3">
                    <c:v>Quality CoPQ</c:v>
                  </c:pt>
                  <c:pt idx="4">
                    <c:v>Partner ramp</c:v>
                  </c:pt>
                  <c:pt idx="5">
                    <c:v>Changeover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2.75</c:v>
                </c:pt>
                <c:pt idx="3">
                  <c:v>1.25</c:v>
                </c:pt>
                <c:pt idx="4">
                  <c:v>2.5</c:v>
                </c:pt>
                <c:pt idx="5">
                  <c:v>0.85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Digital Twin, factory telemetry, Atelier Digital SaaS already live
• Gap is connective tissue: signals do not become governed decisions
• Executive layer lacks one integrated view of value, risk, adoptionEvidence base: 22 leadership personas, 440 interview answers, 18 technology insights, 20 initiatives. The ingredients of a serious digital transformation already exist; they do not yet operate as one management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Data definitions vary — portfolio progress is not comparable
• Pilots lack scale gates — real gains stay unrepeatablePlant, finance, product, customer success and partners describe one shared gap from different angles: enough data to act earlier, not enough governance discipline to turn data into consistent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Event taxonomy + alert routing + action protocol + learning capture
• Fund Digital Twin as an operating system, not a dashboardAlerts exist; routing, classification and action protocols are inconsistent across shifts. A 20-30 min event-to-response lag leaks 0.8-1.2 M EUR/yr on Line 3 before changeover and downtime gains are layered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Activation, usage, support and partner signals live in separate views; risk surfaces only after escalation. Moving gross renewal from 76-80% toward the 88-92% top-quartile reference protects 4-6 M EUR ARR.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required: fund top-25 metric ownership and lineage in Wave 1
• Definitions, ownership, lineage, quality SLAs — the boring workOEE, defect recurrence, supplier risk, renewal risk, partner activation and roadmap value all need one source of truth. Inconsistent definitions drag portfolio productivity 8-12% and raise US audit cost as scale grows.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District &amp; GPO contract readiness — Partial, close before scale
• COPPA / US state privacy posture — Needs evidence
• AI use-case governance for child-facing AI — Needs evidence
• ESG &amp; supply-chain traceability — Yes, package as buyer assetAtelier is genuinely strong on operations and ESG credentials, but district procurement, COPPA posture, AI use-case governance and origin-aware sourcing become contractual deal-blockers before US scale is a safe bet.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1. Line 3 Digital Twin — operational value, visible demo
• 5-7. OT Cyber · Data Governance · Partner ActivationA portfolio can hold 20 initiatives, but executive attention should prove the operating model on the handful with clear value, named owners and a strong KPI path. Sequencing follows the priority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Week 1 — confirm Wave 1 scope, owners and KPI baselines
• Week 2 — run first control tower; prototype 3 signal systems
• Week 3 — validate financials with confidence-banded value view
• Week 4 — executive review: scale, adjust or stopEvidence is decision-grade for prioritization. Start the right 30-day actions now while assigning data owners to close baseline gaps in parallel — do not wait for a full maturity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Wave 1 initiative expressible as a sub-thesis of one story
• Adoption KPIs at role level protect 1.5-2.5 M EUR Wave 1 value
• US buyers, districts and partners rehearse one message backAdopt one thesis — Atelier runs a governed digital transformation turning distributed digital signals into reliable enterprise decisions, with measurable value in operations, digital revenue quality and enterprise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758952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From digital initiatives to a governed digital transformation operating model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95528" y="3291840"/>
            <a:ext cx="1554480" cy="0"/>
          </a:xfrm>
          <a:prstGeom prst="line">
            <a:avLst/>
          </a:prstGeom>
          <a:noFill/>
          <a:ln w="381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45643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2026-07-03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4498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CONSULTIFY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Atelier Toys is not digitally immature — its digital work is ungoverned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95590" y="164592"/>
            <a:ext cx="108265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95590" y="164592"/>
            <a:ext cx="108265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 SUMMARY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Twin, factory telemetry, Atelier Digital SaaS already…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governance and OT cybersecurity investment already underway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 is connective tissue: signals do not become…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layer lacks one integrated view of value,…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 digital work underperforms because decisions arrive late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same operating-model gap recurs across every function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Signals arrive late — value leaks before intervention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definitions vary — portfolio progress is not…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Pilots lack scale gates — real gains stay…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 named, cross-function dependencies weak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is active but not yet evidence-driven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Six benchmarked gaps expose 14-22 M EUR of run-rate value at stake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</a:t>
            </a:r>
            <a:endParaRPr lang="en-US" sz="700" dirty="0"/>
          </a:p>
        </p:txBody>
      </p:sp>
      <p:graphicFrame>
        <p:nvGraphicFramePr>
          <p:cNvPr id="9" name="Chart 0" descr="Wykres słupkowy „Value at stake (M EUR/yr, midpoint)&quot; — trend malejący od 3 do 0.9 w 6 okresach."/>
          <p:cNvGraphicFramePr/>
          <p:nvPr/>
        </p:nvGraphicFramePr>
        <p:xfrm>
          <a:off x="548640" y="1920240"/>
          <a:ext cx="8046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theme is anchored to an anonymized top-quartile reference. The value pool is concentrated, not diffuse — which makes Wave 1 sequencing possible.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executive heatmap sequences Wave 1 where evidence and value both concentrate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310896" cy="310896"/>
          </a:xfrm>
          <a:prstGeom prst="pie">
            <a:avLst>
              <a:gd name="adj1" fmla="val 0"/>
              <a:gd name="adj2" fmla="val 216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9202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Factory telemetry &amp; Digital Twin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494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331720"/>
            <a:ext cx="310896" cy="310896"/>
          </a:xfrm>
          <a:prstGeom prst="pie">
            <a:avLst>
              <a:gd name="adj1" fmla="val 0"/>
              <a:gd name="adj2" fmla="val 216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331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Supplier control tower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949440" y="2331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43200"/>
            <a:ext cx="310896" cy="310896"/>
          </a:xfrm>
          <a:prstGeom prst="pie">
            <a:avLst>
              <a:gd name="adj1" fmla="val 0"/>
              <a:gd name="adj2" fmla="val 216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27432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subscription renewal risk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49440" y="2743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15468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154680"/>
            <a:ext cx="310896" cy="310896"/>
          </a:xfrm>
          <a:prstGeom prst="pie">
            <a:avLst>
              <a:gd name="adj1" fmla="val 0"/>
              <a:gd name="adj2" fmla="val 216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31546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governance (cross-portfolio)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3154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6616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566160"/>
            <a:ext cx="310896" cy="310896"/>
          </a:xfrm>
          <a:prstGeom prst="pie">
            <a:avLst>
              <a:gd name="adj1" fmla="val 0"/>
              <a:gd name="adj2" fmla="val 162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5661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Closed-loop quality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49440" y="3566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wysoki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977640"/>
            <a:ext cx="310896" cy="310896"/>
          </a:xfrm>
          <a:prstGeom prst="pie">
            <a:avLst>
              <a:gd name="adj1" fmla="val 0"/>
              <a:gd name="adj2" fmla="val 162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39776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 cybersecurity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49440" y="3977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wysoki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38912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389120"/>
            <a:ext cx="310896" cy="310896"/>
          </a:xfrm>
          <a:prstGeom prst="pie">
            <a:avLst>
              <a:gd name="adj1" fmla="val 0"/>
              <a:gd name="adj2" fmla="val 108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" y="43891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 activation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49440" y="4389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średni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where evidence is strong, the value pool is material, and named owners already exist — do not wait for a perfect maturity audit before launching the first wave.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Factory telemetry is rich, but supervisors react 30 minutes after the loss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required: approve a Line 3 shift-decision contract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taxonomy + alert routing + action protocol…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 Digital Twin as an operating system, not…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KPIs sit next to outcome KPIs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Atelier Digital renewal risk is detected too late to cure, only to negotiate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required: launch a renewal-risk action system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Fuse usage, support, partner and account signals weekly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prioritized intervention list with owners and playbooks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another analytics dashboard — an action system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Data governance is the common dependency under nearly every value pool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required: fund top-25 metric ownership and lineage…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data governance as enabling infrastructure, not back-office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Definitions, ownership, lineage, quality SLAs — the boring…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 for COPPA / FERPA-aligned US readiness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US expansion raises the bar: data, AI, partner and tariff readiness need evidence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 &amp; GPO contract readiness — Partial, close…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COPPA / US state privacy posture — Needs…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use-case governance for child-facing AI — Needs…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Tariff &amp; origin-aware procurement — Needs evidence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ESG &amp; supply-chain traceability — Yes, package as…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Wave 1 focuses executive attention on seven initiatives, not twenty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Line 3 Digital Twin — operational value,…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Procurement Control Tower — resilience and margin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Renewal-Risk Action System — digital revenue quality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Closed-Loop Quality Cockpit — prevents quality debt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5-7. OT Cyber · Data Governance · Partner…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What to do first: launch Wave 1 now and reposition the PMO as a control tower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1 — confirm Wave 1 scope, owners…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 — run first control tower; prototype…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 — validate financials with confidence-banded value…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 — executive review: scale, adjust or…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confidence-banded value cases before Gate 2 funding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What to expect: one board narrative that converts digital signals into governed value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545629" y="164592"/>
            <a:ext cx="1232611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45629" y="164592"/>
            <a:ext cx="12326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ECONOMICS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Wave 1 initiative expressible as a sub-thesis…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ledger ends reopened decisions and lost momentum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KPIs at role level protect 1.5-2.5 M…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 buyers, districts and partners rehearse one message…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Removes 1.4-3.3 M EUR/yr of narrative-debt value leakage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0515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7589520" cy="1371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Launch Wave 1 now and reposition the PMO as a Transformation Control Tower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95528" y="2926080"/>
            <a:ext cx="1554480" cy="0"/>
          </a:xfrm>
          <a:prstGeom prst="line">
            <a:avLst/>
          </a:prstGeom>
          <a:noFill/>
          <a:ln w="381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127248"/>
            <a:ext cx="758952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 expect: In 12-18 months, distributed digital signals become governed enterprise decisions — with one board narrative that removes 1.4-3.3 M EUR/yr of avoidable value leakage.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2026-07-03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4498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CONSULTIFY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Atelier Toys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digital initiatives to a governed digital transformation operating model</dc:title>
  <dc:subject>PptxGenJS Presentation</dc:subject>
  <dc:creator>Consultify</dc:creator>
  <cp:lastModifiedBy>Consultify</cp:lastModifiedBy>
  <cp:revision>1</cp:revision>
  <dcterms:created xsi:type="dcterms:W3CDTF">2026-07-02T21:23:59Z</dcterms:created>
  <dcterms:modified xsi:type="dcterms:W3CDTF">2026-07-02T21:23:59Z</dcterms:modified>
</cp:coreProperties>
</file>