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Poziom obecny</c:v>
                </c:pt>
              </c:strCache>
            </c:strRef>
          </c:tx>
          <c:spPr>
            <a:solidFill>
              <a:srgbClr val="0C447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Procesy Cyfrowe</c:v>
                  </c:pt>
                  <c:pt idx="1">
                    <c:v>2. Produkty Cyfrowe</c:v>
                  </c:pt>
                  <c:pt idx="2">
                    <c:v>3. Cyfrowe Modele Biznesowe</c:v>
                  </c:pt>
                  <c:pt idx="3">
                    <c:v>4. Zarządzanie Danymi</c:v>
                  </c:pt>
                  <c:pt idx="4">
                    <c:v>5. Kultura Transformacji</c:v>
                  </c:pt>
                  <c:pt idx="5">
                    <c:v>6. Cyberbezpieczeństwo</c:v>
                  </c:pt>
                  <c:pt idx="6">
                    <c:v>7. Dojrzałość AI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0</c:v>
                </c:pt>
                <c:pt idx="2">
                  <c:v>40</c:v>
                </c:pt>
                <c:pt idx="3">
                  <c:v>43</c:v>
                </c:pt>
                <c:pt idx="4">
                  <c:v>42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Poziom docelowy</c:v>
                </c:pt>
              </c:strCache>
            </c:strRef>
          </c:tx>
          <c:spPr>
            <a:solidFill>
              <a:srgbClr val="1D9E7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1. Procesy Cyfrowe</c:v>
                  </c:pt>
                  <c:pt idx="1">
                    <c:v>2. Produkty Cyfrowe</c:v>
                  </c:pt>
                  <c:pt idx="2">
                    <c:v>3. Cyfrowe Modele Biznesowe</c:v>
                  </c:pt>
                  <c:pt idx="3">
                    <c:v>4. Zarządzanie Danymi</c:v>
                  </c:pt>
                  <c:pt idx="4">
                    <c:v>5. Kultura Transformacji</c:v>
                  </c:pt>
                  <c:pt idx="5">
                    <c:v>6. Cyberbezpieczeństwo</c:v>
                  </c:pt>
                  <c:pt idx="6">
                    <c:v>7. Dojrzałość AI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8DD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Z OCENY DOJRZAŁOŚCI CYFROWEJ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81051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DBR77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761488"/>
            <a:ext cx="2011680" cy="0"/>
          </a:xfrm>
          <a:prstGeom prst="line">
            <a:avLst/>
          </a:prstGeom>
          <a:noFill/>
          <a:ln w="28575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346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DRD Assessment - Jul 12,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Metodyka: DRD 7 osi / 39 obszarów (ocena zastana — bez przypiętej wersji paczki)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wydania: 13 września 2026</a:t>
            </a:r>
            <a:endParaRPr lang="en-US" sz="14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Zakres: 7 osi, 39 obszarów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PREZENTACJI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 oceny i źródło danych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ogólny — profil siedmiu osi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po osi: co zmierzono i gdzie jest luka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luk — obszary o największym dystansie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 wynikające z luk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Skąd pochodzi ten wynik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55961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DBR77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Przedmiot oceny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DRD Assessment - Jul 12,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 działalności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danych w ocenie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Zatrudnienie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danych w ocenie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Okres oceny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lipca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Oceniający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Piotr Wiśniewski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 wyniku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Ocena prowadzona w warsztacie DRD — poziomy zadeklarowane, bez załączonych dowodów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Pokrycie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z 39 obszarów ma zapisany poziom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OGÓLNY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Profil dojrzałości na siedmiu osiach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078992"/>
          <a:ext cx="82296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 krytycznych (dystans co najmniej 3 poziomy): 0 z 0 zmierzonych obszarów.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1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Procesy Cyfrowe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1 z 9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2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Produkty Cyfrowe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0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3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Cyfrowe Modele Biznesowe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1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4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Zarządzanie Danymi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43%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1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5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Kultura Transformacji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42%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2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6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Cyberbezpieczeństwo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0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OŚ 7 Z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Dojrzałość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78992"/>
            <a:ext cx="3977640" cy="1267358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170432"/>
            <a:ext cx="3685032" cy="5829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→ 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1808281"/>
            <a:ext cx="3685032" cy="4466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 obecny wobec docelowego; oceniono 0 z 5 obszarów.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7051"/>
            <a:ext cx="3977640" cy="1629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Największa luka na osi: —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Obszary z luką co najmniej 3: 0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07031"/>
                <a:gridCol w="556870"/>
                <a:gridCol w="556870"/>
                <a:gridCol w="5568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zmierzonych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 zmierzonych luk na tej osi.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MACIERZ DRD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Obszary o największej luce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8229600" cy="914400"/>
        </p:xfrm>
        <a:graphic>
          <a:graphicData uri="http://schemas.openxmlformats.org/drawingml/2006/table">
            <a:tbl>
              <a:tblPr/>
              <a:tblGrid>
                <a:gridCol w="3456432"/>
                <a:gridCol w="2468880"/>
                <a:gridCol w="822960"/>
                <a:gridCol w="14813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Obszar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Oś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Poziom docelowy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69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 obejmuje 0 obszarów ze zmierzoną luką; pokazano 0 największych.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 wynika z rozkładu luk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78992"/>
          <a:ext cx="3977640" cy="914400"/>
        </p:xfrm>
        <a:graphic>
          <a:graphicData uri="http://schemas.openxmlformats.org/drawingml/2006/table">
            <a:tbl>
              <a:tblPr/>
              <a:tblGrid>
                <a:gridCol w="2386584"/>
                <a:gridCol w="159105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Priorytet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Liczba obszarów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09160" y="1078992"/>
            <a:ext cx="397764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Kierunek: brak danych w ocenie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Priorytet: brak danych w ocenie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Rekomendacje per obszar nie zostały zapisane w tej ocenie — priorytet wynika wyłącznie z wielkości luki.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NASTĘPNE KROKI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Od wyniku do działania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Potwierdzić poziomy w 0 obszarach z luką co najmniej 3 i uzupełnić dowody.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Uzupełnić 34 obszarów bez zapisanego poziomu albo świadomie je pominąć z uzasadnieniem.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Przypisać właściciela do każdego obszaru o priorytecie krytycznym.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Ustalić horyzont czasowy — ocena go nie zawiera i nie jest tu dopisywany.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Zatwierdzić raport i przenieść luki do rejestru inicjatyw.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4544568"/>
            <a:ext cx="8229600" cy="0"/>
          </a:xfrm>
          <a:prstGeom prst="line">
            <a:avLst/>
          </a:prstGeom>
          <a:noFill/>
          <a:ln w="9525">
            <a:solidFill>
              <a:srgbClr val="D8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17720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Poufne — DBR77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217920" y="4617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DBR77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Raport z oceny dojrzałości cyfrowej — DBR77</dc:title>
  <dc:subject>Raport z oceny dojrzałości cyfrowej DRD</dc:subject>
  <dc:creator>Consultify</dc:creator>
  <cp:lastModifiedBy>Consultify</cp:lastModifiedBy>
  <cp:revision>1</cp:revision>
  <dcterms:created xsi:type="dcterms:W3CDTF">2026-09-13T14:23:43Z</dcterms:created>
  <dcterms:modified xsi:type="dcterms:W3CDTF">2026-09-13T14:23:43Z</dcterms:modified>
</cp:coreProperties>
</file>