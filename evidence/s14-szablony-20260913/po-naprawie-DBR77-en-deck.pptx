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level</c:v>
                </c:pt>
              </c:strCache>
            </c:strRef>
          </c:tx>
          <c:spPr>
            <a:solidFill>
              <a:srgbClr val="0C447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Digital Processes</c:v>
                  </c:pt>
                  <c:pt idx="1">
                    <c:v>2. Digital Products</c:v>
                  </c:pt>
                  <c:pt idx="2">
                    <c:v>3. Digital Business Models</c:v>
                  </c:pt>
                  <c:pt idx="3">
                    <c:v>4. Data Management</c:v>
                  </c:pt>
                  <c:pt idx="4">
                    <c:v>5. Culture of Transformation</c:v>
                  </c:pt>
                  <c:pt idx="5">
                    <c:v>6. Cybersecurity</c:v>
                  </c:pt>
                  <c:pt idx="6">
                    <c:v>7. AI Maturity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0</c:v>
                </c:pt>
                <c:pt idx="2">
                  <c:v>40</c:v>
                </c:pt>
                <c:pt idx="3">
                  <c:v>43</c:v>
                </c:pt>
                <c:pt idx="4">
                  <c:v>42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level</c:v>
                </c:pt>
              </c:strCache>
            </c:strRef>
          </c:tx>
          <c:spPr>
            <a:solidFill>
              <a:srgbClr val="1D9E7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Digital Processes</c:v>
                  </c:pt>
                  <c:pt idx="1">
                    <c:v>2. Digital Products</c:v>
                  </c:pt>
                  <c:pt idx="2">
                    <c:v>3. Digital Business Models</c:v>
                  </c:pt>
                  <c:pt idx="3">
                    <c:v>4. Data Management</c:v>
                  </c:pt>
                  <c:pt idx="4">
                    <c:v>5. Culture of Transformation</c:v>
                  </c:pt>
                  <c:pt idx="5">
                    <c:v>6. Cybersecurity</c:v>
                  </c:pt>
                  <c:pt idx="6">
                    <c:v>7. AI Maturity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ASSESSMENT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105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DBR77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2011680" cy="0"/>
          </a:xfrm>
          <a:prstGeom prst="line">
            <a:avLst/>
          </a:prstGeom>
          <a:noFill/>
          <a:ln w="2857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Assessment - Jul 12,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DRD 7 axes / 39 areas (legacy-store assessment — no method-pack version pinned)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Issued: 13 September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7 axes, 39 areas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context and data source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 — seven-axis profile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by axis: what was measured and where the gap 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register — areas with the largest distance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arising from the gaps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this result comes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5596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DBR77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of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DRD Assessment - Jul 12,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in the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in the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July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Piotr Wiśniewski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run in the DRD workshop — levels declared, no attached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39 areas have a recorded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Maturity profile across seven axes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78992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(distance of at least 3 levels): 0 of 0 measured areas.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Processes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1 of 9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3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Business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1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4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1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5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Culture of Transformation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2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6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7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Maturity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Areas with the largest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2468880"/>
                <a:gridCol w="822960"/>
                <a:gridCol w="14813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covers 0 areas with a measured gap; 0 largest shown.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gap distribution shows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78992"/>
            <a:ext cx="39776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no data in the assessment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no data in the assessment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Per-area recommendations were not recorded in this assessment — priority follows solely from gap size.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result to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levels in 0 areas with a gap of at least 3 and add supporting evidence.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34 areas with no recorded level, or deliberately skip them with a stated reason.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owner to every area with critical priority.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time horizon — the assessment does not contain one and none is added here.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report and move the gaps into the initiative register.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DBR77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Maturity Assessment Report — DBR77</dc:title>
  <dc:subject>DRD Digital Maturity Assessment Report</dc:subject>
  <dc:creator>Consultify</dc:creator>
  <cp:lastModifiedBy>Consultify</cp:lastModifiedBy>
  <cp:revision>1</cp:revision>
  <dcterms:created xsi:type="dcterms:W3CDTF">2026-09-13T14:23:43Z</dcterms:created>
  <dcterms:modified xsi:type="dcterms:W3CDTF">2026-09-13T14:23:43Z</dcterms:modified>
</cp:coreProperties>
</file>