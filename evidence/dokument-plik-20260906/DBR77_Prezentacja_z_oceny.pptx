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Poziom obecny</c:v>
                </c:pt>
              </c:strCache>
            </c:strRef>
          </c:tx>
          <c:spPr>
            <a:solidFill>
              <a:srgbClr val="0C447C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Procesy Cyfrowe</c:v>
                  </c:pt>
                  <c:pt idx="1">
                    <c:v>2. Produkty Cyfrowe</c:v>
                  </c:pt>
                  <c:pt idx="2">
                    <c:v>3. Cyfrowe Modele Biznesowe</c:v>
                  </c:pt>
                  <c:pt idx="3">
                    <c:v>4. Zarządzanie Danymi</c:v>
                  </c:pt>
                  <c:pt idx="4">
                    <c:v>5. Kultura Transformacji</c:v>
                  </c:pt>
                  <c:pt idx="5">
                    <c:v>6. Cyberbezpieczeństwo</c:v>
                  </c:pt>
                  <c:pt idx="6">
                    <c:v>7. Dojrzałość AI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</c:v>
                </c:pt>
                <c:pt idx="1">
                  <c:v>92</c:v>
                </c:pt>
                <c:pt idx="2">
                  <c:v>60</c:v>
                </c:pt>
                <c:pt idx="3">
                  <c:v>60</c:v>
                </c:pt>
                <c:pt idx="4">
                  <c:v>47</c:v>
                </c:pt>
                <c:pt idx="5">
                  <c:v>67</c:v>
                </c:pt>
                <c:pt idx="6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Poziom docelowy</c:v>
                </c:pt>
              </c:strCache>
            </c:strRef>
          </c:tx>
          <c:spPr>
            <a:solidFill>
              <a:srgbClr val="1D9E7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Procesy Cyfrowe</c:v>
                  </c:pt>
                  <c:pt idx="1">
                    <c:v>2. Produkty Cyfrowe</c:v>
                  </c:pt>
                  <c:pt idx="2">
                    <c:v>3. Cyfrowe Modele Biznesowe</c:v>
                  </c:pt>
                  <c:pt idx="3">
                    <c:v>4. Zarządzanie Danymi</c:v>
                  </c:pt>
                  <c:pt idx="4">
                    <c:v>5. Kultura Transformacji</c:v>
                  </c:pt>
                  <c:pt idx="5">
                    <c:v>6. Cyberbezpieczeństwo</c:v>
                  </c:pt>
                  <c:pt idx="6">
                    <c:v>7. Dojrzałość AI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86</c:v>
                </c:pt>
                <c:pt idx="1">
                  <c:v>100</c:v>
                </c:pt>
                <c:pt idx="2">
                  <c:v>100</c:v>
                </c:pt>
                <c:pt idx="3">
                  <c:v>86</c:v>
                </c:pt>
                <c:pt idx="4">
                  <c:v>100</c:v>
                </c:pt>
                <c:pt idx="5">
                  <c:v>83</c:v>
                </c:pt>
                <c:pt idx="6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8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Z OCENY DOJRZAŁOŚCI CYFROWEJ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1051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DRD — Testowy (Manufacturing)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761488"/>
            <a:ext cx="2011680" cy="0"/>
          </a:xfrm>
          <a:prstGeom prst="line">
            <a:avLst/>
          </a:prstGeom>
          <a:noFill/>
          <a:ln w="28575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Metodyka: DRD 7 osi / 39 obszarów (ocena zastana — bez przypiętej wersji paczki)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wydania: 5 września 2026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Zakres: 7 osi, 39 obszarów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PREZENTACJI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oceny i źródło danych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ogólny — profil siedmiu osi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po osi: co zmierzono i gdzie jest luka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 luk — obszary o największym dystansie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Priorytety wynikające z luk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Następne kroki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Skąd pochodzi ten wynik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55961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DBR77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Przedmiot oceny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DRD — Testowy (Manufacturing)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działalności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danych w ocenie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Zatrudnienie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danych w ocenie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Okres oceny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września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Oceniający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Audyt Nocny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Źródło wyniku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Ocena prowadzona w warsztacie DRD — poziomy zadeklarowane, bez załączonych dowodów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Pokrycie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z 39 obszarów ma zapisany poziom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OGÓLNY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Profil dojrzałości na siedmiu osiach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78992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 krytycznych (dystans co najmniej 3 poziomy): 13 z 39 zmierzonych obszarów.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1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Procesy Cyfrowe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57% → 86%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9 z 9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3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3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1A: CRM wdrożony, integracja z ERP zaplanowana na Q2. Obsługa klienta częściowo zdigitalizowana…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 Procesy Sprzedaży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Procesy Zakupowe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1G Procesy Jakości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 Procesy Marketingowe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osi: Krytyczny.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2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Produkty Cyfrowe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92% → 100%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5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1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2A Produkty Cyfrowe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Dopasowanie Produktu do Oczekiwań Klienta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2B Produkty Społecznościowe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2C Produkty 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osi: Średni.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3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Cyfrowe Modele Biznesowe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60% → 100%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5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3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2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 Rozwiązania Platformowe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3E Modele Monetyzacji Danych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3C Model As-a-Service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3A Modele E-commerce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osi: Krytyczny.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4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Zarządzanie Danymi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60% → 86%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5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3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1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4D: Data warehouse z Power BI, ale brak governance frameworku. Dane jakościowe niespójne…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4C Komunikacja Danych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4A Zbieranie Danych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4D Analiza Big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4B Metodologia Przechowywania Danych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osi: Krytyczny.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5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Kultura Transformacji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47% → 100%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5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4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4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5A: Change management program w fazie planowania. Szkolenia digital literacy dla 200 pracowników…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5A Postawy przywódcze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5D Kultura innowacji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 Gotowość na zmianę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 Dostępność zasobów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osi: Krytyczny.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6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Cyberbezpieczeństwo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67% → 83%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5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2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6B: Firewall OT zainstalowany. Brak segmentacji sieci OT/IT. Audit cyberbezpieczeństwa zaplanowany na Q2…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6B Ochrona sieci i systemów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 Plany awaryjne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6C Ochrona danych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6A Strategia i zarządzanie ryzykiem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osi: Wysoki.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7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Dojrzałość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44% → 100%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5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4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3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7A: Pilotaż AI do predykcji jakości na linii 2 — wyniki obiecujące (30%…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7C AI w Produktach i Usługach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7A Dane i Fundamenty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7D Governance, Bezpieczeństwo i Etyka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Procesy Wspierane przez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osi: Krytyczny.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MACIERZ DRD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Obszary o największej luce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3456432"/>
                <a:gridCol w="2468880"/>
                <a:gridCol w="822960"/>
                <a:gridCol w="14813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docelowy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5A Postawy przywódcze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Kultura Transformacji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5D Kultura innowacji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Kultura Transformacji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7C AI w Produktach i Usługach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Dojrzałość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 Procesy Sprzedaży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Procesy Cyfrowe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Procesy Zakupowe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Procesy Cyfrowe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1G Procesy Jakości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Procesy Cyfrowe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 Rozwiązania Platformowe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Cyfrowe Modele Biznesowe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3E Modele Monetyzacji Danych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Cyfrowe Modele Biznesowe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 obejmuje 39 obszarów ze zmierzoną luką; pokazano 8 największych.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 wynika z rozkładu luk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86584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Priorytet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Liczba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Krytyczny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Wysoki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Utrzymanie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1078992"/>
            <a:ext cx="397764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Skoncentrować program na obszarze 5A oraz pozostałych lukach o wartości 4.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 Krytyczny wynika z największej luki 4 w całym programie.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Rekomendacje per obszar nie zostały zapisane w tej ocenie — priorytet wynika wyłącznie z wielkości luki.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NASTĘPNE KROKI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Od wyniku do działania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Potwierdzić poziomy w 13 obszarach z luką co najmniej 3 i uzupełnić dowody.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obszary metodyki mają zapisany poziom — zakres oceny jest zamknięty.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Przypisać właściciela do każdego obszaru o priorytecie krytycznym.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Ustalić horyzont czasowy — ocena go nie zawiera i nie jest tu dopisywany.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Zatwierdzić raport i przenieść luki do rejestru inicjatyw.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DRD — Testowy (Manufacturing)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Raport z oceny dojrzałości cyfrowej — DRD — Testowy (Manufacturing)</dc:title>
  <dc:subject>Raport z oceny dojrzałości cyfrowej DRD</dc:subject>
  <dc:creator>Consultify</dc:creator>
  <cp:lastModifiedBy>Consultify</cp:lastModifiedBy>
  <cp:revision>1</cp:revision>
  <dcterms:created xsi:type="dcterms:W3CDTF">2026-09-06T05:13:01Z</dcterms:created>
  <dcterms:modified xsi:type="dcterms:W3CDTF">2026-09-06T05:13:01Z</dcterms:modified>
</cp:coreProperties>
</file>